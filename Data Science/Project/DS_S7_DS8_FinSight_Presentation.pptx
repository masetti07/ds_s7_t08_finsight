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0c685755e64ecd" /><Relationship Type="http://schemas.openxmlformats.org/officeDocument/2006/relationships/extended-properties" Target="/docProps/app.xml" Id="R40c9d2c9c7e04ee8" /><Relationship Type="http://schemas.openxmlformats.org/officeDocument/2006/relationships/officeDocument" Target="/ppt/presentation.xml" Id="Rdb3ed09b90bd40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5453db96754924"/>
  </p:sldMasterIdLst>
  <p:notesMasterIdLst>
    <p:notesMasterId xmlns:r="http://schemas.openxmlformats.org/officeDocument/2006/relationships" r:id="R5c0f5cd22d3a449f"/>
  </p:notesMasterIdLst>
  <p:sldIdLst>
    <p:sldId xmlns:r="http://schemas.openxmlformats.org/officeDocument/2006/relationships" id="256" r:id="Rcd6cc9aad3cc40c6"/>
    <p:sldId xmlns:r="http://schemas.openxmlformats.org/officeDocument/2006/relationships" id="257" r:id="Rf8d8ed00bdbe4394"/>
    <p:sldId xmlns:r="http://schemas.openxmlformats.org/officeDocument/2006/relationships" id="258" r:id="R48a1eb13760b496a"/>
    <p:sldId xmlns:r="http://schemas.openxmlformats.org/officeDocument/2006/relationships" id="259" r:id="Re84d906b75184417"/>
    <p:sldId xmlns:r="http://schemas.openxmlformats.org/officeDocument/2006/relationships" id="260" r:id="Rbab127ae5ece47d8"/>
    <p:sldId xmlns:r="http://schemas.openxmlformats.org/officeDocument/2006/relationships" id="261" r:id="R17589be561974f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f1c796790d4a55" /><Relationship Type="http://schemas.openxmlformats.org/officeDocument/2006/relationships/slideMaster" Target="/ppt/slideMasters/slideMaster1.xml" Id="R875453db96754924" /><Relationship Type="http://schemas.openxmlformats.org/officeDocument/2006/relationships/notesMaster" Target="/ppt/notesMasters/notesMaster1.xml" Id="R5c0f5cd22d3a449f" /><Relationship Type="http://schemas.openxmlformats.org/officeDocument/2006/relationships/presProps" Target="/ppt/presProps.xml" Id="Ra011aeac16de4643" /><Relationship Type="http://schemas.openxmlformats.org/officeDocument/2006/relationships/tableStyles" Target="/ppt/tableStyles.xml" Id="R5192de1f0e3c4a23" /><Relationship Type="http://schemas.openxmlformats.org/officeDocument/2006/relationships/slide" Target="/ppt/slides/slide1.xml" Id="Rcd6cc9aad3cc40c6" /><Relationship Type="http://schemas.openxmlformats.org/officeDocument/2006/relationships/slide" Target="/ppt/slides/slide2.xml" Id="Rf8d8ed00bdbe4394" /><Relationship Type="http://schemas.openxmlformats.org/officeDocument/2006/relationships/slide" Target="/ppt/slides/slide3.xml" Id="R48a1eb13760b496a" /><Relationship Type="http://schemas.openxmlformats.org/officeDocument/2006/relationships/slide" Target="/ppt/slides/slide4.xml" Id="Re84d906b75184417" /><Relationship Type="http://schemas.openxmlformats.org/officeDocument/2006/relationships/slide" Target="/ppt/slides/slide5.xml" Id="Rbab127ae5ece47d8" /><Relationship Type="http://schemas.openxmlformats.org/officeDocument/2006/relationships/slide" Target="/ppt/slides/slide6.xml" Id="R17589be561974f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f0d121416446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d616411b7043e7" /><Relationship Type="http://schemas.openxmlformats.org/officeDocument/2006/relationships/notesMaster" Target="/ppt/notesMasters/notesMaster1.xml" Id="Rd227770372d845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a0a2da0c5044f9" /><Relationship Type="http://schemas.openxmlformats.org/officeDocument/2006/relationships/notesMaster" Target="/ppt/notesMasters/notesMaster1.xml" Id="R8c43ad39c0ea42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6e5bad54dc4e6a" /><Relationship Type="http://schemas.openxmlformats.org/officeDocument/2006/relationships/notesMaster" Target="/ppt/notesMasters/notesMaster1.xml" Id="R98b0b583a9374d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7de32c6f9d493f" /><Relationship Type="http://schemas.openxmlformats.org/officeDocument/2006/relationships/notesMaster" Target="/ppt/notesMasters/notesMaster1.xml" Id="R0d5c1248b89043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338818f21640ee" /><Relationship Type="http://schemas.openxmlformats.org/officeDocument/2006/relationships/notesMaster" Target="/ppt/notesMasters/notesMaster1.xml" Id="R36f83ec62cba4f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4f2c50b6504550" /><Relationship Type="http://schemas.openxmlformats.org/officeDocument/2006/relationships/notesMaster" Target="/ppt/notesMasters/notesMaster1.xml" Id="R31f09a1a1c0041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and team details supplied by the authors.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FinSight project abstract and README (local project source).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FinSight project abstract and README (local project source).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UCI Statlog (German Credit Data), DOI: https://doi.org/10.24432/C5NC77</a:t>
            </a:r>
          </a:p>
          <a:p xmlns:a="http://schemas.openxmlformats.org/drawingml/2006/main">
            <a:r>
              <a:t>FinSight generated data-quality report (1,000 rows, 20 predictors, 70/30 target split).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FinSight README seven-day roadmap and current Day 1 status (local project source).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FinSight project abstract and README (local project source).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673c54430f4e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a7fa3e1c164bc6" /><Relationship Type="http://schemas.openxmlformats.org/officeDocument/2006/relationships/slideLayout" Target="/ppt/slideLayouts/slideLayout1.xml" Id="R578c7501d01343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8c7501d01343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3450ff7ea40d4" /><Relationship Type="http://schemas.openxmlformats.org/officeDocument/2006/relationships/notesSlide" Target="/ppt/notesSlides/notesSlide1.xml" Id="R7594cd8a4ec246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091733bc049e5" /><Relationship Type="http://schemas.openxmlformats.org/officeDocument/2006/relationships/notesSlide" Target="/ppt/notesSlides/notesSlide2.xml" Id="R325c836dc27e4f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2df6494624d1b" /><Relationship Type="http://schemas.openxmlformats.org/officeDocument/2006/relationships/notesSlide" Target="/ppt/notesSlides/notesSlide3.xml" Id="R677787f55f0f42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779f33d0f4b2d" /><Relationship Type="http://schemas.openxmlformats.org/officeDocument/2006/relationships/notesSlide" Target="/ppt/notesSlides/notesSlide4.xml" Id="R31927fe4414147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1fabc420640fc" /><Relationship Type="http://schemas.openxmlformats.org/officeDocument/2006/relationships/notesSlide" Target="/ppt/notesSlides/notesSlide5.xml" Id="Rdf90d47dd1c54f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151a078804d70" /><Relationship Type="http://schemas.openxmlformats.org/officeDocument/2006/relationships/notesSlide" Target="/ppt/notesSlides/notesSlide6.xml" Id="Rfcf28f7a7d2645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F046609-25BC-4E72-894F-1C79A201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B0A75FC7-3DDF-4026-88C6-CEB24496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DATA SCIENCE (24AD3107)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7D49E80-9344-4FF2-85F7-9237F070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647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827"/>
                </a:solidFill>
              </a:defRPr>
            </a:pPr>
            <a:r>
              <a:rPr sz="5400" b="1">
                <a:solidFill>
                  <a:srgbClr val="111827"/>
                </a:solidFill>
              </a:rPr>
              <a:t>FinSight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2C9346F2-575E-476D-98A5-9B9BF503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B6472"/>
                </a:solidFill>
              </a:defRPr>
            </a:pPr>
            <a:r>
              <a:rPr sz="2400" b="0">
                <a:solidFill>
                  <a:srgbClr val="5B6472"/>
                </a:solidFill>
              </a:rPr>
              <a:t>Explainable Credit Risk Analytics &amp;</a:t>
            </a:r>
          </a:p>
          <a:p xmlns:a="http://schemas.openxmlformats.org/drawingml/2006/main">
            <a:pPr algn="l">
              <a:defRPr sz="2400" b="0">
                <a:solidFill>
                  <a:srgbClr val="5B6472"/>
                </a:solidFill>
              </a:defRPr>
            </a:pPr>
            <a:r>
              <a:rPr sz="2400" b="0">
                <a:solidFill>
                  <a:srgbClr val="5B6472"/>
                </a:solidFill>
              </a:rPr>
              <a:t>Loan Decision Support System</a:t>
            </a:r>
          </a:p>
        </p:txBody>
      </p:sp>
      <p:sp>
        <p:nvSpPr>
          <p:cNvPr id="5" name="cover-panel">
            <a:extLst xmlns:a="http://schemas.openxmlformats.org/drawingml/2006/main">
              <a:ext uri="{FF2B5EF4-FFF2-40B4-BE49-F238E27FC236}">
                <a16:creationId xmlns:a16="http://schemas.microsoft.com/office/drawing/2014/main" id="{EC213541-A757-44D8-B73F-F3F2F35D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guide-label">
            <a:extLst xmlns:a="http://schemas.openxmlformats.org/drawingml/2006/main">
              <a:ext uri="{FF2B5EF4-FFF2-40B4-BE49-F238E27FC236}">
                <a16:creationId xmlns:a16="http://schemas.microsoft.com/office/drawing/2014/main" id="{A21D8A59-03F4-4062-8450-89827D89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8763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SUPERVISOR</a:t>
            </a:r>
          </a:p>
        </p:txBody>
      </p:sp>
      <p:sp>
        <p:nvSpPr>
          <p:cNvPr id="7" name="guide">
            <a:extLst xmlns:a="http://schemas.openxmlformats.org/drawingml/2006/main">
              <a:ext uri="{FF2B5EF4-FFF2-40B4-BE49-F238E27FC236}">
                <a16:creationId xmlns:a16="http://schemas.microsoft.com/office/drawing/2014/main" id="{7C134A6D-A075-4D89-810B-71106949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2001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Dr. Prathusha</a:t>
            </a:r>
          </a:p>
        </p:txBody>
      </p:sp>
      <p:sp>
        <p:nvSpPr>
          <p:cNvPr id="8" name="team-label">
            <a:extLst xmlns:a="http://schemas.openxmlformats.org/drawingml/2006/main">
              <a:ext uri="{FF2B5EF4-FFF2-40B4-BE49-F238E27FC236}">
                <a16:creationId xmlns:a16="http://schemas.microsoft.com/office/drawing/2014/main" id="{8C0E0D4C-B176-4DEB-9FAD-7A6000B7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TEAM</a:t>
            </a:r>
          </a:p>
        </p:txBody>
      </p:sp>
      <p:sp>
        <p:nvSpPr>
          <p:cNvPr id="9" name="team">
            <a:extLst xmlns:a="http://schemas.openxmlformats.org/drawingml/2006/main">
              <a:ext uri="{FF2B5EF4-FFF2-40B4-BE49-F238E27FC236}">
                <a16:creationId xmlns:a16="http://schemas.microsoft.com/office/drawing/2014/main" id="{667F9F38-76E4-4DA1-8444-97B696D5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3390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M. Manasvini  ·  2420030475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N. Sreeja  ·  2420030267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M. Sahasra  ·  2420030459</a:t>
            </a:r>
          </a:p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S. Sreeja Reddy  ·  2420030548</a:t>
            </a:r>
          </a:p>
        </p:txBody>
      </p:sp>
      <p:sp>
        <p:nvSpPr>
          <p:cNvPr id="10" name="repo">
            <a:extLst xmlns:a="http://schemas.openxmlformats.org/drawingml/2006/main">
              <a:ext uri="{FF2B5EF4-FFF2-40B4-BE49-F238E27FC236}">
                <a16:creationId xmlns:a16="http://schemas.microsoft.com/office/drawing/2014/main" id="{025E1D32-A800-4781-8448-B2980544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github.com/Masetti07/DS_S7_DS8_FinSight</a:t>
            </a:r>
          </a:p>
        </p:txBody>
      </p:sp>
    </p:spTree>
    <p:extLst>
      <p:ext uri="{BB962C8B-B14F-4D97-AF65-F5344CB8AC3E}">
        <p14:creationId xmlns:p14="http://schemas.microsoft.com/office/powerpoint/2010/main" val="21409390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-2">
            <a:extLst xmlns:a="http://schemas.openxmlformats.org/drawingml/2006/main">
              <a:ext uri="{FF2B5EF4-FFF2-40B4-BE49-F238E27FC236}">
                <a16:creationId xmlns:a16="http://schemas.microsoft.com/office/drawing/2014/main" id="{37E3D1DC-0000-42B0-9348-6512AA22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80475D91-AE92-4DCB-BF89-0BF14254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WHY FINSIGHT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0DB281F9-CBE7-400D-88BB-75B5ADFF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02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26675A0A-C17F-47B4-BBED-A2FFB066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Credit decisions need accuracy and transparency</a:t>
            </a:r>
          </a:p>
        </p:txBody>
      </p:sp>
      <p:sp>
        <p:nvSpPr>
          <p:cNvPr id="5" name="rule-2">
            <a:extLst xmlns:a="http://schemas.openxmlformats.org/drawingml/2006/main">
              <a:ext uri="{FF2B5EF4-FFF2-40B4-BE49-F238E27FC236}">
                <a16:creationId xmlns:a16="http://schemas.microsoft.com/office/drawing/2014/main" id="{F75D0303-B0A0-4DFA-9EA0-8BCDFD15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45E8C1E3-902A-47E5-8F8F-B99CD093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533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</a:defRPr>
            </a:pPr>
            <a:r>
              <a:rPr sz="2250" b="1">
                <a:solidFill>
                  <a:srgbClr val="111827"/>
                </a:solidFill>
              </a:rPr>
              <a:t>Traditional risk scores may predict an outcome without clearly explaining why.</a:t>
            </a:r>
          </a:p>
        </p:txBody>
      </p:sp>
      <p:sp>
        <p:nvSpPr>
          <p:cNvPr id="7" name="problem-panel">
            <a:extLst xmlns:a="http://schemas.openxmlformats.org/drawingml/2006/main">
              <a:ext uri="{FF2B5EF4-FFF2-40B4-BE49-F238E27FC236}">
                <a16:creationId xmlns:a16="http://schemas.microsoft.com/office/drawing/2014/main" id="{A4CA2BBF-7993-42CD-B24A-56E0EAD9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51625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oblem-points">
            <a:extLst xmlns:a="http://schemas.openxmlformats.org/drawingml/2006/main">
              <a:ext uri="{FF2B5EF4-FFF2-40B4-BE49-F238E27FC236}">
                <a16:creationId xmlns:a16="http://schemas.microsoft.com/office/drawing/2014/main" id="{9130AC4D-81FF-4AB3-A5B2-ACE94407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0300"/>
            <a:ext cx="43053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01   Misclassification can create financial loss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02   Credit decisions affect real applicants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03   Stakeholders need understandable reasons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04   Model output must support—not replace—human judgment</a:t>
            </a:r>
          </a:p>
        </p:txBody>
      </p:sp>
      <p:sp>
        <p:nvSpPr>
          <p:cNvPr id="9" name="problem-close">
            <a:extLst xmlns:a="http://schemas.openxmlformats.org/drawingml/2006/main">
              <a:ext uri="{FF2B5EF4-FFF2-40B4-BE49-F238E27FC236}">
                <a16:creationId xmlns:a16="http://schemas.microsoft.com/office/drawing/2014/main" id="{757D4845-031D-4ADF-9220-C76D28E6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9580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FinSight combines predictive modelling with explanations and responsible decision support.</a:t>
            </a:r>
          </a:p>
        </p:txBody>
      </p:sp>
    </p:spTree>
    <p:extLst>
      <p:ext uri="{BB962C8B-B14F-4D97-AF65-F5344CB8AC3E}">
        <p14:creationId xmlns:p14="http://schemas.microsoft.com/office/powerpoint/2010/main" val="21029457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ccent-3">
            <a:extLst xmlns:a="http://schemas.openxmlformats.org/drawingml/2006/main">
              <a:ext uri="{FF2B5EF4-FFF2-40B4-BE49-F238E27FC236}">
                <a16:creationId xmlns:a16="http://schemas.microsoft.com/office/drawing/2014/main" id="{2961F878-D2F6-4AB8-80CE-CEE06D95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4C6800E5-A060-4291-9F0A-D3B57FEB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PROPOSED SOLUTION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0B6595DF-50F9-493B-AD89-6F56BC03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03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D61072A5-02DF-412C-8F52-188BBC2F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One workflow connects data, models, explanations, and decisions</a:t>
            </a:r>
          </a:p>
        </p:txBody>
      </p:sp>
      <p:sp>
        <p:nvSpPr>
          <p:cNvPr id="5" name="rule-3">
            <a:extLst xmlns:a="http://schemas.openxmlformats.org/drawingml/2006/main">
              <a:ext uri="{FF2B5EF4-FFF2-40B4-BE49-F238E27FC236}">
                <a16:creationId xmlns:a16="http://schemas.microsoft.com/office/drawing/2014/main" id="{B93F7E34-3E7C-4DED-AF6A-8F508787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olution-top-0">
            <a:extLst xmlns:a="http://schemas.openxmlformats.org/drawingml/2006/main">
              <a:ext uri="{FF2B5EF4-FFF2-40B4-BE49-F238E27FC236}">
                <a16:creationId xmlns:a16="http://schemas.microsoft.com/office/drawing/2014/main" id="{8B046452-D6BE-49B7-9EBD-63297367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olution-num-0">
            <a:extLst xmlns:a="http://schemas.openxmlformats.org/drawingml/2006/main">
              <a:ext uri="{FF2B5EF4-FFF2-40B4-BE49-F238E27FC236}">
                <a16:creationId xmlns:a16="http://schemas.microsoft.com/office/drawing/2014/main" id="{7034E808-92F0-4F24-909D-2CA5B540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8" name="solution-head-0">
            <a:extLst xmlns:a="http://schemas.openxmlformats.org/drawingml/2006/main">
              <a:ext uri="{FF2B5EF4-FFF2-40B4-BE49-F238E27FC236}">
                <a16:creationId xmlns:a16="http://schemas.microsoft.com/office/drawing/2014/main" id="{F7F80F96-0BD7-41F7-8982-D2E1365F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Reliable foundation</a:t>
            </a:r>
          </a:p>
        </p:txBody>
      </p:sp>
      <p:sp>
        <p:nvSpPr>
          <p:cNvPr id="9" name="solution-body-0">
            <a:extLst xmlns:a="http://schemas.openxmlformats.org/drawingml/2006/main">
              <a:ext uri="{FF2B5EF4-FFF2-40B4-BE49-F238E27FC236}">
                <a16:creationId xmlns:a16="http://schemas.microsoft.com/office/drawing/2014/main" id="{7E8E2049-5F48-4524-8D3B-F2350778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862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Reproducible acquisition, schema validation, data profiling, and leakage-aware preprocessing.</a:t>
            </a:r>
          </a:p>
        </p:txBody>
      </p:sp>
      <p:sp>
        <p:nvSpPr>
          <p:cNvPr id="10" name="solution-top-1">
            <a:extLst xmlns:a="http://schemas.openxmlformats.org/drawingml/2006/main">
              <a:ext uri="{FF2B5EF4-FFF2-40B4-BE49-F238E27FC236}">
                <a16:creationId xmlns:a16="http://schemas.microsoft.com/office/drawing/2014/main" id="{0D5C648C-6643-48FC-8DF1-07CF3819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5265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olution-num-1">
            <a:extLst xmlns:a="http://schemas.openxmlformats.org/drawingml/2006/main">
              <a:ext uri="{FF2B5EF4-FFF2-40B4-BE49-F238E27FC236}">
                <a16:creationId xmlns:a16="http://schemas.microsoft.com/office/drawing/2014/main" id="{67AE6732-2E3C-42F4-99B9-2AB8A1F4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574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2" name="solution-head-1">
            <a:extLst xmlns:a="http://schemas.openxmlformats.org/drawingml/2006/main">
              <a:ext uri="{FF2B5EF4-FFF2-40B4-BE49-F238E27FC236}">
                <a16:creationId xmlns:a16="http://schemas.microsoft.com/office/drawing/2014/main" id="{71BB41CB-103F-412F-BA67-12A1BA76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480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Explainable modelling</a:t>
            </a:r>
          </a:p>
        </p:txBody>
      </p:sp>
      <p:sp>
        <p:nvSpPr>
          <p:cNvPr id="13" name="solution-body-1">
            <a:extLst xmlns:a="http://schemas.openxmlformats.org/drawingml/2006/main">
              <a:ext uri="{FF2B5EF4-FFF2-40B4-BE49-F238E27FC236}">
                <a16:creationId xmlns:a16="http://schemas.microsoft.com/office/drawing/2014/main" id="{943EB7A4-8A82-460F-8C57-839628B6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862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Compare classification models and use SHAP to explain global behaviour and individual predictions.</a:t>
            </a:r>
          </a:p>
        </p:txBody>
      </p:sp>
      <p:sp>
        <p:nvSpPr>
          <p:cNvPr id="14" name="solution-top-2">
            <a:extLst xmlns:a="http://schemas.openxmlformats.org/drawingml/2006/main">
              <a:ext uri="{FF2B5EF4-FFF2-40B4-BE49-F238E27FC236}">
                <a16:creationId xmlns:a16="http://schemas.microsoft.com/office/drawing/2014/main" id="{412D91B4-006C-43C6-8C69-7472D042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5265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olution-num-2">
            <a:extLst xmlns:a="http://schemas.openxmlformats.org/drawingml/2006/main">
              <a:ext uri="{FF2B5EF4-FFF2-40B4-BE49-F238E27FC236}">
                <a16:creationId xmlns:a16="http://schemas.microsoft.com/office/drawing/2014/main" id="{AB94C7FD-63DB-4647-B0EB-632C9318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574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6" name="solution-head-2">
            <a:extLst xmlns:a="http://schemas.openxmlformats.org/drawingml/2006/main">
              <a:ext uri="{FF2B5EF4-FFF2-40B4-BE49-F238E27FC236}">
                <a16:creationId xmlns:a16="http://schemas.microsoft.com/office/drawing/2014/main" id="{931C2B33-3305-4EF4-A20B-B8D1E3A7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4800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Accessible decision support</a:t>
            </a:r>
          </a:p>
        </p:txBody>
      </p:sp>
      <p:sp>
        <p:nvSpPr>
          <p:cNvPr id="17" name="solution-body-2">
            <a:extLst xmlns:a="http://schemas.openxmlformats.org/drawingml/2006/main">
              <a:ext uri="{FF2B5EF4-FFF2-40B4-BE49-F238E27FC236}">
                <a16:creationId xmlns:a16="http://schemas.microsoft.com/office/drawing/2014/main" id="{5B3B5275-BAD9-4F5D-990F-B8681604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8620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Present risk, confidence, key factors, and analytical views through a Streamlit dashboard.</a:t>
            </a:r>
          </a:p>
        </p:txBody>
      </p:sp>
    </p:spTree>
    <p:extLst>
      <p:ext uri="{BB962C8B-B14F-4D97-AF65-F5344CB8AC3E}">
        <p14:creationId xmlns:p14="http://schemas.microsoft.com/office/powerpoint/2010/main" val="20460533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ccent-4">
            <a:extLst xmlns:a="http://schemas.openxmlformats.org/drawingml/2006/main">
              <a:ext uri="{FF2B5EF4-FFF2-40B4-BE49-F238E27FC236}">
                <a16:creationId xmlns:a16="http://schemas.microsoft.com/office/drawing/2014/main" id="{138900B8-9B74-40F4-9ACF-EC095245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002C0594-B535-4B5C-9486-71E217FF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DATA &amp; EVALUATION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0807FABC-0B1F-477F-A6F7-8DE1A951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04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A45F1071-6E24-48AD-98C1-FF8476DF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The project starts with a validated 1,000-record credit dataset</a:t>
            </a:r>
          </a:p>
        </p:txBody>
      </p:sp>
      <p:sp>
        <p:nvSpPr>
          <p:cNvPr id="5" name="rule-4">
            <a:extLst xmlns:a="http://schemas.openxmlformats.org/drawingml/2006/main">
              <a:ext uri="{FF2B5EF4-FFF2-40B4-BE49-F238E27FC236}">
                <a16:creationId xmlns:a16="http://schemas.microsoft.com/office/drawing/2014/main" id="{ED633910-1102-4817-8F6C-B2702B48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ric-1">
            <a:extLst xmlns:a="http://schemas.openxmlformats.org/drawingml/2006/main">
              <a:ext uri="{FF2B5EF4-FFF2-40B4-BE49-F238E27FC236}">
                <a16:creationId xmlns:a16="http://schemas.microsoft.com/office/drawing/2014/main" id="{7F58C9AB-BACC-49D0-9FB2-52C473DD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563EB"/>
                </a:solidFill>
              </a:defRPr>
            </a:pPr>
            <a:r>
              <a:rPr sz="4200" b="1">
                <a:solidFill>
                  <a:srgbClr val="2563EB"/>
                </a:solidFill>
              </a:rPr>
              <a:t>1,000</a:t>
            </a:r>
          </a:p>
        </p:txBody>
      </p:sp>
      <p:sp>
        <p:nvSpPr>
          <p:cNvPr id="7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DCB4D2FA-F8A6-48D3-BA0B-F17FA33B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90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applicant records</a:t>
            </a:r>
          </a:p>
        </p:txBody>
      </p:sp>
      <p:sp>
        <p:nvSpPr>
          <p:cNvPr id="8" name="metric-2">
            <a:extLst xmlns:a="http://schemas.openxmlformats.org/drawingml/2006/main">
              <a:ext uri="{FF2B5EF4-FFF2-40B4-BE49-F238E27FC236}">
                <a16:creationId xmlns:a16="http://schemas.microsoft.com/office/drawing/2014/main" id="{6D43342A-D44C-48E3-98B4-6CA55916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526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563EB"/>
                </a:solidFill>
              </a:defRPr>
            </a:pPr>
            <a:r>
              <a:rPr sz="4200" b="1">
                <a:solidFill>
                  <a:srgbClr val="2563EB"/>
                </a:solidFill>
              </a:rPr>
              <a:t>20</a:t>
            </a:r>
          </a:p>
        </p:txBody>
      </p:sp>
      <p:sp>
        <p:nvSpPr>
          <p:cNvPr id="9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339AE82B-E0BD-4CDE-B46F-A34E008A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90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predictor attributes</a:t>
            </a:r>
          </a:p>
        </p:txBody>
      </p:sp>
      <p:sp>
        <p:nvSpPr>
          <p:cNvPr id="10" name="metric-3">
            <a:extLst xmlns:a="http://schemas.openxmlformats.org/drawingml/2006/main">
              <a:ext uri="{FF2B5EF4-FFF2-40B4-BE49-F238E27FC236}">
                <a16:creationId xmlns:a16="http://schemas.microsoft.com/office/drawing/2014/main" id="{FE566FB0-C35D-4340-A409-FB263B02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5265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563EB"/>
                </a:solidFill>
              </a:defRPr>
            </a:pPr>
            <a:r>
              <a:rPr sz="4200" b="1">
                <a:solidFill>
                  <a:srgbClr val="2563EB"/>
                </a:solidFill>
              </a:rPr>
              <a:t>70 / 30</a:t>
            </a:r>
          </a:p>
        </p:txBody>
      </p:sp>
      <p:sp>
        <p:nvSpPr>
          <p:cNvPr id="11" name="metric-3-label">
            <a:extLst xmlns:a="http://schemas.openxmlformats.org/drawingml/2006/main">
              <a:ext uri="{FF2B5EF4-FFF2-40B4-BE49-F238E27FC236}">
                <a16:creationId xmlns:a16="http://schemas.microsoft.com/office/drawing/2014/main" id="{7893875E-A5C3-4FDC-A37D-676EED9B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90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good / bad risk split (%)</a:t>
            </a:r>
          </a:p>
        </p:txBody>
      </p:sp>
      <p:sp>
        <p:nvSpPr>
          <p:cNvPr id="12" name="method-panel">
            <a:extLst xmlns:a="http://schemas.openxmlformats.org/drawingml/2006/main">
              <a:ext uri="{FF2B5EF4-FFF2-40B4-BE49-F238E27FC236}">
                <a16:creationId xmlns:a16="http://schemas.microsoft.com/office/drawing/2014/main" id="{532EAB80-2F32-4D18-87F9-E03E6041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48100"/>
            <a:ext cx="11125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hod-head">
            <a:extLst xmlns:a="http://schemas.openxmlformats.org/drawingml/2006/main">
              <a:ext uri="{FF2B5EF4-FFF2-40B4-BE49-F238E27FC236}">
                <a16:creationId xmlns:a16="http://schemas.microsoft.com/office/drawing/2014/main" id="{EDF87423-D7E5-45FD-B6FA-245C7C93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Evaluation approach</a:t>
            </a:r>
          </a:p>
        </p:txBody>
      </p:sp>
      <p:sp>
        <p:nvSpPr>
          <p:cNvPr id="14" name="method-body">
            <a:extLst xmlns:a="http://schemas.openxmlformats.org/drawingml/2006/main">
              <a:ext uri="{FF2B5EF4-FFF2-40B4-BE49-F238E27FC236}">
                <a16:creationId xmlns:a16="http://schemas.microsoft.com/office/drawing/2014/main" id="{D93118CF-BB66-45E2-863A-E48237C7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57650"/>
            <a:ext cx="7620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Compare Logistic Regression, Decision Tree, Random Forest, and Gradient Boosting using precision, recall, F1-score, ROC-AUC, and confusion matrices. Consider asymmetric error costs when evaluating risky approvals.</a:t>
            </a:r>
          </a:p>
        </p:txBody>
      </p:sp>
    </p:spTree>
    <p:extLst>
      <p:ext uri="{BB962C8B-B14F-4D97-AF65-F5344CB8AC3E}">
        <p14:creationId xmlns:p14="http://schemas.microsoft.com/office/powerpoint/2010/main" val="18970383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accent-5">
            <a:extLst xmlns:a="http://schemas.openxmlformats.org/drawingml/2006/main">
              <a:ext uri="{FF2B5EF4-FFF2-40B4-BE49-F238E27FC236}">
                <a16:creationId xmlns:a16="http://schemas.microsoft.com/office/drawing/2014/main" id="{C5E23EF0-B596-4B39-93B9-BCA1818F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0032BE25-B82D-432B-8AF9-C05ACF71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PROJECT ROADMAP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A972388E-254E-4B1F-BD59-69E3A3BD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05</a:t>
            </a:r>
          </a:p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AB6F9F58-F09E-408F-A7BB-BCA11F7E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A seven-stage roadmap moves from trustworthy data to a usable dashboard</a:t>
            </a:r>
          </a:p>
        </p:txBody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7D6E1D8E-8DC4-4167-89F2-2721DF16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line">
            <a:extLst xmlns:a="http://schemas.openxmlformats.org/drawingml/2006/main">
              <a:ext uri="{FF2B5EF4-FFF2-40B4-BE49-F238E27FC236}">
                <a16:creationId xmlns:a16="http://schemas.microsoft.com/office/drawing/2014/main" id="{C30503B0-5AC6-43C0-BBB8-DE5BB752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028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ot-0">
            <a:extLst xmlns:a="http://schemas.openxmlformats.org/drawingml/2006/main">
              <a:ext uri="{FF2B5EF4-FFF2-40B4-BE49-F238E27FC236}">
                <a16:creationId xmlns:a16="http://schemas.microsoft.com/office/drawing/2014/main" id="{4FD092DD-0DDD-4C2E-834F-FF7EB24E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71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8" name="stage-0">
            <a:extLst xmlns:a="http://schemas.openxmlformats.org/drawingml/2006/main">
              <a:ext uri="{FF2B5EF4-FFF2-40B4-BE49-F238E27FC236}">
                <a16:creationId xmlns:a16="http://schemas.microsoft.com/office/drawing/2014/main" id="{37DE20AA-34BF-46A8-8B0D-1DDB031F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01</a:t>
            </a:r>
          </a:p>
        </p:txBody>
      </p:sp>
      <p:sp>
        <p:nvSpPr>
          <p:cNvPr id="9" name="label-0">
            <a:extLst xmlns:a="http://schemas.openxmlformats.org/drawingml/2006/main">
              <a:ext uri="{FF2B5EF4-FFF2-40B4-BE49-F238E27FC236}">
                <a16:creationId xmlns:a16="http://schemas.microsoft.com/office/drawing/2014/main" id="{1E485A31-7E51-4E4A-8B7B-22741198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576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Data</a:t>
            </a:r>
          </a:p>
        </p:txBody>
      </p:sp>
      <p:sp>
        <p:nvSpPr>
          <p:cNvPr id="10" name="dot-1">
            <a:extLst xmlns:a="http://schemas.openxmlformats.org/drawingml/2006/main">
              <a:ext uri="{FF2B5EF4-FFF2-40B4-BE49-F238E27FC236}">
                <a16:creationId xmlns:a16="http://schemas.microsoft.com/office/drawing/2014/main" id="{3B76948A-62DA-477E-A1A8-59092EFC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171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1" name="stage-1">
            <a:extLst xmlns:a="http://schemas.openxmlformats.org/drawingml/2006/main">
              <a:ext uri="{FF2B5EF4-FFF2-40B4-BE49-F238E27FC236}">
                <a16:creationId xmlns:a16="http://schemas.microsoft.com/office/drawing/2014/main" id="{F4F1074B-E8FC-4763-9933-F23FA785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717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02</a:t>
            </a:r>
          </a:p>
        </p:txBody>
      </p:sp>
      <p:sp>
        <p:nvSpPr>
          <p:cNvPr id="12" name="label-1">
            <a:extLst xmlns:a="http://schemas.openxmlformats.org/drawingml/2006/main">
              <a:ext uri="{FF2B5EF4-FFF2-40B4-BE49-F238E27FC236}">
                <a16:creationId xmlns:a16="http://schemas.microsoft.com/office/drawing/2014/main" id="{8AC171BE-1775-4DFB-96DC-0D236873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6576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Explore</a:t>
            </a:r>
          </a:p>
        </p:txBody>
      </p:sp>
      <p:sp>
        <p:nvSpPr>
          <p:cNvPr id="13" name="dot-2">
            <a:extLst xmlns:a="http://schemas.openxmlformats.org/drawingml/2006/main">
              <a:ext uri="{FF2B5EF4-FFF2-40B4-BE49-F238E27FC236}">
                <a16:creationId xmlns:a16="http://schemas.microsoft.com/office/drawing/2014/main" id="{C1930742-897F-477F-A897-79D1EF7D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71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4" name="stage-2">
            <a:extLst xmlns:a="http://schemas.openxmlformats.org/drawingml/2006/main">
              <a:ext uri="{FF2B5EF4-FFF2-40B4-BE49-F238E27FC236}">
                <a16:creationId xmlns:a16="http://schemas.microsoft.com/office/drawing/2014/main" id="{30D7A7B9-8798-4AAC-B943-C98710D9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717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03</a:t>
            </a:r>
          </a:p>
        </p:txBody>
      </p:sp>
      <p:sp>
        <p:nvSpPr>
          <p:cNvPr id="15" name="label-2">
            <a:extLst xmlns:a="http://schemas.openxmlformats.org/drawingml/2006/main">
              <a:ext uri="{FF2B5EF4-FFF2-40B4-BE49-F238E27FC236}">
                <a16:creationId xmlns:a16="http://schemas.microsoft.com/office/drawing/2014/main" id="{B7054476-6A4E-46B5-AE15-442BEDEF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576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Baseline</a:t>
            </a:r>
          </a:p>
        </p:txBody>
      </p:sp>
      <p:sp>
        <p:nvSpPr>
          <p:cNvPr id="16" name="dot-3">
            <a:extLst xmlns:a="http://schemas.openxmlformats.org/drawingml/2006/main">
              <a:ext uri="{FF2B5EF4-FFF2-40B4-BE49-F238E27FC236}">
                <a16:creationId xmlns:a16="http://schemas.microsoft.com/office/drawing/2014/main" id="{F911388A-AF5F-4DD1-AC65-BB8AD068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171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17" name="stage-3">
            <a:extLst xmlns:a="http://schemas.openxmlformats.org/drawingml/2006/main">
              <a:ext uri="{FF2B5EF4-FFF2-40B4-BE49-F238E27FC236}">
                <a16:creationId xmlns:a16="http://schemas.microsoft.com/office/drawing/2014/main" id="{DD10DC8B-FE71-40A1-92BC-D85520D4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5717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04</a:t>
            </a:r>
          </a:p>
        </p:txBody>
      </p:sp>
      <p:sp>
        <p:nvSpPr>
          <p:cNvPr id="18" name="label-3">
            <a:extLst xmlns:a="http://schemas.openxmlformats.org/drawingml/2006/main">
              <a:ext uri="{FF2B5EF4-FFF2-40B4-BE49-F238E27FC236}">
                <a16:creationId xmlns:a16="http://schemas.microsoft.com/office/drawing/2014/main" id="{CF0A5CF9-3932-44AE-92E7-67D1F7B4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6576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Compare</a:t>
            </a:r>
          </a:p>
        </p:txBody>
      </p:sp>
      <p:sp>
        <p:nvSpPr>
          <p:cNvPr id="19" name="dot-4">
            <a:extLst xmlns:a="http://schemas.openxmlformats.org/drawingml/2006/main">
              <a:ext uri="{FF2B5EF4-FFF2-40B4-BE49-F238E27FC236}">
                <a16:creationId xmlns:a16="http://schemas.microsoft.com/office/drawing/2014/main" id="{2FCE39BA-DD4F-41AC-BB59-D52F47D1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71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0" name="stage-4">
            <a:extLst xmlns:a="http://schemas.openxmlformats.org/drawingml/2006/main">
              <a:ext uri="{FF2B5EF4-FFF2-40B4-BE49-F238E27FC236}">
                <a16:creationId xmlns:a16="http://schemas.microsoft.com/office/drawing/2014/main" id="{FE6D4006-6742-40D8-9E96-13F8B0FD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05</a:t>
            </a:r>
          </a:p>
        </p:txBody>
      </p:sp>
      <p:sp>
        <p:nvSpPr>
          <p:cNvPr id="21" name="label-4">
            <a:extLst xmlns:a="http://schemas.openxmlformats.org/drawingml/2006/main">
              <a:ext uri="{FF2B5EF4-FFF2-40B4-BE49-F238E27FC236}">
                <a16:creationId xmlns:a16="http://schemas.microsoft.com/office/drawing/2014/main" id="{1EE44268-7CD9-4A7A-A799-9EC0BAAA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576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Explain</a:t>
            </a:r>
          </a:p>
        </p:txBody>
      </p:sp>
      <p:sp>
        <p:nvSpPr>
          <p:cNvPr id="22" name="dot-5">
            <a:extLst xmlns:a="http://schemas.openxmlformats.org/drawingml/2006/main">
              <a:ext uri="{FF2B5EF4-FFF2-40B4-BE49-F238E27FC236}">
                <a16:creationId xmlns:a16="http://schemas.microsoft.com/office/drawing/2014/main" id="{AA579735-82B4-4BF6-B274-27868E62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171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3" name="stage-5">
            <a:extLst xmlns:a="http://schemas.openxmlformats.org/drawingml/2006/main">
              <a:ext uri="{FF2B5EF4-FFF2-40B4-BE49-F238E27FC236}">
                <a16:creationId xmlns:a16="http://schemas.microsoft.com/office/drawing/2014/main" id="{00308173-A099-4579-9289-CF9F5FCC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717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06</a:t>
            </a:r>
          </a:p>
        </p:txBody>
      </p:sp>
      <p:sp>
        <p:nvSpPr>
          <p:cNvPr id="24" name="label-5">
            <a:extLst xmlns:a="http://schemas.openxmlformats.org/drawingml/2006/main">
              <a:ext uri="{FF2B5EF4-FFF2-40B4-BE49-F238E27FC236}">
                <a16:creationId xmlns:a16="http://schemas.microsoft.com/office/drawing/2014/main" id="{0BBD176E-A6E9-42C5-BF71-42F81EED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576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Dashboard</a:t>
            </a:r>
          </a:p>
        </p:txBody>
      </p:sp>
      <p:sp>
        <p:nvSpPr>
          <p:cNvPr id="25" name="dot-6">
            <a:extLst xmlns:a="http://schemas.openxmlformats.org/drawingml/2006/main">
              <a:ext uri="{FF2B5EF4-FFF2-40B4-BE49-F238E27FC236}">
                <a16:creationId xmlns:a16="http://schemas.microsoft.com/office/drawing/2014/main" id="{B58E0B9A-4590-4775-8256-16E7AC36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1718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563EB"/>
            </a:solidFill>
            <a:prstDash val="solid"/>
          </a:ln>
        </p:spPr>
      </p:sp>
      <p:sp>
        <p:nvSpPr>
          <p:cNvPr id="26" name="stage-6">
            <a:extLst xmlns:a="http://schemas.openxmlformats.org/drawingml/2006/main">
              <a:ext uri="{FF2B5EF4-FFF2-40B4-BE49-F238E27FC236}">
                <a16:creationId xmlns:a16="http://schemas.microsoft.com/office/drawing/2014/main" id="{7A28F1A7-E610-448D-B58A-467DCD38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717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07</a:t>
            </a:r>
          </a:p>
        </p:txBody>
      </p:sp>
      <p:sp>
        <p:nvSpPr>
          <p:cNvPr id="27" name="label-6">
            <a:extLst xmlns:a="http://schemas.openxmlformats.org/drawingml/2006/main">
              <a:ext uri="{FF2B5EF4-FFF2-40B4-BE49-F238E27FC236}">
                <a16:creationId xmlns:a16="http://schemas.microsoft.com/office/drawing/2014/main" id="{4ACE842F-8CBC-491E-B541-3F8D024D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5760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Polish</a:t>
            </a:r>
          </a:p>
        </p:txBody>
      </p:sp>
      <p:sp>
        <p:nvSpPr>
          <p:cNvPr id="28" name="roadmap-note">
            <a:extLst xmlns:a="http://schemas.openxmlformats.org/drawingml/2006/main">
              <a:ext uri="{FF2B5EF4-FFF2-40B4-BE49-F238E27FC236}">
                <a16:creationId xmlns:a16="http://schemas.microsoft.com/office/drawing/2014/main" id="{7A8E906B-61AA-4BDC-A5BB-AA92F2F0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2"/>
                </a:solidFill>
              </a:defRPr>
            </a:pPr>
            <a:r>
              <a:rPr sz="1575" b="0">
                <a:solidFill>
                  <a:srgbClr val="5B6472"/>
                </a:solidFill>
              </a:rPr>
              <a:t>Current foundation: acquisition, schema validation, quality reporting, and data dictionary are implemented.</a:t>
            </a:r>
          </a:p>
        </p:txBody>
      </p:sp>
    </p:spTree>
    <p:extLst>
      <p:ext uri="{BB962C8B-B14F-4D97-AF65-F5344CB8AC3E}">
        <p14:creationId xmlns:p14="http://schemas.microsoft.com/office/powerpoint/2010/main" val="6089367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-6">
            <a:extLst xmlns:a="http://schemas.openxmlformats.org/drawingml/2006/main">
              <a:ext uri="{FF2B5EF4-FFF2-40B4-BE49-F238E27FC236}">
                <a16:creationId xmlns:a16="http://schemas.microsoft.com/office/drawing/2014/main" id="{763359CC-02C1-40B2-A8F4-C469D1EA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1603DA52-5877-44A4-A534-5AC5B4E7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EXPECTED OUTCOME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22D5CD74-948D-481F-82C5-0AC4807D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29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06</a:t>
            </a:r>
          </a:p>
        </p:txBody>
      </p:sp>
      <p:sp>
        <p:nvSpPr>
          <p:cNvPr id="4" name="outcome-title">
            <a:extLst xmlns:a="http://schemas.openxmlformats.org/drawingml/2006/main">
              <a:ext uri="{FF2B5EF4-FFF2-40B4-BE49-F238E27FC236}">
                <a16:creationId xmlns:a16="http://schemas.microsoft.com/office/drawing/2014/main" id="{07EB9906-70B9-4DC0-A210-EF5BD0E3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FinSight will make credit-risk predictions easier to evaluate, explain, and use responsibly.</a:t>
            </a:r>
          </a:p>
        </p:txBody>
      </p:sp>
      <p:sp>
        <p:nvSpPr>
          <p:cNvPr id="5" name="outcome-rule">
            <a:extLst xmlns:a="http://schemas.openxmlformats.org/drawingml/2006/main">
              <a:ext uri="{FF2B5EF4-FFF2-40B4-BE49-F238E27FC236}">
                <a16:creationId xmlns:a16="http://schemas.microsoft.com/office/drawing/2014/main" id="{2109ADD7-21EC-41C6-BE84-CE6385D7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outcome-left-head">
            <a:extLst xmlns:a="http://schemas.openxmlformats.org/drawingml/2006/main">
              <a:ext uri="{FF2B5EF4-FFF2-40B4-BE49-F238E27FC236}">
                <a16:creationId xmlns:a16="http://schemas.microsoft.com/office/drawing/2014/main" id="{F3C36A9E-E6D8-4E2B-8913-6E6EE83C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Deliverable</a:t>
            </a:r>
          </a:p>
        </p:txBody>
      </p:sp>
      <p:sp>
        <p:nvSpPr>
          <p:cNvPr id="7" name="outcome-left">
            <a:extLst xmlns:a="http://schemas.openxmlformats.org/drawingml/2006/main">
              <a:ext uri="{FF2B5EF4-FFF2-40B4-BE49-F238E27FC236}">
                <a16:creationId xmlns:a16="http://schemas.microsoft.com/office/drawing/2014/main" id="{55D58C1E-9D9E-4AA3-9232-0A415C47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338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An end-to-end Python and Streamlit decision-support application with reproducible analysis and explainable outputs.</a:t>
            </a:r>
          </a:p>
        </p:txBody>
      </p:sp>
      <p:sp>
        <p:nvSpPr>
          <p:cNvPr id="8" name="outcome-right-head">
            <a:extLst xmlns:a="http://schemas.openxmlformats.org/drawingml/2006/main">
              <a:ext uri="{FF2B5EF4-FFF2-40B4-BE49-F238E27FC236}">
                <a16:creationId xmlns:a16="http://schemas.microsoft.com/office/drawing/2014/main" id="{B319757A-9609-4737-8A2D-C151C907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Responsible use</a:t>
            </a:r>
          </a:p>
        </p:txBody>
      </p:sp>
      <p:sp>
        <p:nvSpPr>
          <p:cNvPr id="9" name="outcome-right">
            <a:extLst xmlns:a="http://schemas.openxmlformats.org/drawingml/2006/main">
              <a:ext uri="{FF2B5EF4-FFF2-40B4-BE49-F238E27FC236}">
                <a16:creationId xmlns:a16="http://schemas.microsoft.com/office/drawing/2014/main" id="{1CC05F52-C5A9-4A6F-98AE-E29EEABA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Predictions remain advisory. Human reviewers retain responsibility for the final lending decision.</a:t>
            </a:r>
          </a:p>
        </p:txBody>
      </p:sp>
    </p:spTree>
    <p:extLst>
      <p:ext uri="{BB962C8B-B14F-4D97-AF65-F5344CB8AC3E}">
        <p14:creationId xmlns:p14="http://schemas.microsoft.com/office/powerpoint/2010/main" val="19976835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2026-08-19T06:15:55.8780000Z</dcterms:created>
  <dcterms:modified xsi:type="dcterms:W3CDTF">2026-08-19T06:15:55.8780000Z</dcterms:modified>
</coreProperties>
</file>