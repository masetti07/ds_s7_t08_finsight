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graphics/data1.xml" ContentType="application/vnd.openxmlformats-officedocument.drawingml.diagramData+xml"/>
  <Override PartName="/ppt/graphics/layout1.xml" ContentType="application/vnd.openxmlformats-officedocument.drawingml.diagramLayou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c1b1cae1074ff6" /><Relationship Type="http://schemas.openxmlformats.org/officeDocument/2006/relationships/extended-properties" Target="/docProps/app.xml" Id="Re272e762b58f406f" /><Relationship Type="http://schemas.openxmlformats.org/officeDocument/2006/relationships/officeDocument" Target="/ppt/presentation.xml" Id="R757d53fa2c474b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e6ad81c405445d"/>
    <p:sldMasterId xmlns:r="http://schemas.openxmlformats.org/officeDocument/2006/relationships" id="2147483660" r:id="R0c205bb5ae214dea"/>
  </p:sldMasterIdLst>
  <p:notesMasterIdLst>
    <p:notesMasterId xmlns:r="http://schemas.openxmlformats.org/officeDocument/2006/relationships" r:id="R8a1f0f22a6a74c7a"/>
  </p:notesMasterIdLst>
  <p:sldIdLst>
    <p:sldId xmlns:r="http://schemas.openxmlformats.org/officeDocument/2006/relationships" id="256" r:id="Rbcc5854762744c8c"/>
    <p:sldId xmlns:r="http://schemas.openxmlformats.org/officeDocument/2006/relationships" id="257" r:id="R18f15b8dcd3749a6"/>
    <p:sldId xmlns:r="http://schemas.openxmlformats.org/officeDocument/2006/relationships" id="258" r:id="R44b2f05fc24c4ee8"/>
    <p:sldId xmlns:r="http://schemas.openxmlformats.org/officeDocument/2006/relationships" id="259" r:id="Re375efefe5ae4678"/>
    <p:sldId xmlns:r="http://schemas.openxmlformats.org/officeDocument/2006/relationships" id="260" r:id="R9e7857a30892496d"/>
    <p:sldId xmlns:r="http://schemas.openxmlformats.org/officeDocument/2006/relationships" id="261" r:id="R7f0f1b1528c64bce"/>
    <p:sldId xmlns:r="http://schemas.openxmlformats.org/officeDocument/2006/relationships" id="262" r:id="Rb314e93bc398499c"/>
    <p:sldId xmlns:r="http://schemas.openxmlformats.org/officeDocument/2006/relationships" id="263" r:id="R2c2d9749a4264d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d4009036254ca0" /><Relationship Type="http://schemas.openxmlformats.org/officeDocument/2006/relationships/slideMaster" Target="/ppt/slideMasters/slideMaster1.xml" Id="R7be6ad81c405445d" /><Relationship Type="http://schemas.openxmlformats.org/officeDocument/2006/relationships/slideMaster" Target="/ppt/slideMasters/slideMaster2.xml" Id="R0c205bb5ae214dea" /><Relationship Type="http://schemas.openxmlformats.org/officeDocument/2006/relationships/notesMaster" Target="/ppt/notesMasters/notesMaster1.xml" Id="R8a1f0f22a6a74c7a" /><Relationship Type="http://schemas.openxmlformats.org/officeDocument/2006/relationships/presProps" Target="/ppt/presProps.xml" Id="R745b841a3a794827" /><Relationship Type="http://schemas.openxmlformats.org/officeDocument/2006/relationships/viewProps" Target="/ppt/viewProps.xml" Id="Rc9447e88393e4b79" /><Relationship Type="http://schemas.openxmlformats.org/officeDocument/2006/relationships/tableStyles" Target="/ppt/tableStyles.xml" Id="R6033e734b4154808" /><Relationship Type="http://schemas.openxmlformats.org/officeDocument/2006/relationships/slide" Target="/ppt/slides/slide1.xml" Id="Rbcc5854762744c8c" /><Relationship Type="http://schemas.openxmlformats.org/officeDocument/2006/relationships/slide" Target="/ppt/slides/slide2.xml" Id="R18f15b8dcd3749a6" /><Relationship Type="http://schemas.openxmlformats.org/officeDocument/2006/relationships/slide" Target="/ppt/slides/slide3.xml" Id="R44b2f05fc24c4ee8" /><Relationship Type="http://schemas.openxmlformats.org/officeDocument/2006/relationships/slide" Target="/ppt/slides/slide4.xml" Id="Re375efefe5ae4678" /><Relationship Type="http://schemas.openxmlformats.org/officeDocument/2006/relationships/slide" Target="/ppt/slides/slide5.xml" Id="R9e7857a30892496d" /><Relationship Type="http://schemas.openxmlformats.org/officeDocument/2006/relationships/slide" Target="/ppt/slides/slide6.xml" Id="R7f0f1b1528c64bce" /><Relationship Type="http://schemas.openxmlformats.org/officeDocument/2006/relationships/slide" Target="/ppt/slides/slide7.xml" Id="Rb314e93bc398499c" /><Relationship Type="http://schemas.openxmlformats.org/officeDocument/2006/relationships/slide" Target="/ppt/slides/slide8.xml" Id="R2c2d9749a4264d6b" /></Relationships>
</file>

<file path=ppt/graphics/data1.xml><?xml version="1.0" encoding="utf-8"?>
<dgm:dataModel xmlns:dgm="http://schemas.openxmlformats.org/drawingml/2006/diagram">
  <dgm:ptLst>
    <dgm:pt modelId="{84B03022-1F30-4885-B78F-22C04F8A973E}" type="doc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094C340-BA43-4FE7-BEDC-37D235AAAD16}" type="pres"/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</dgm:dataModel>
</file>

<file path=ppt/graphics/layout1.xml><?xml version="1.0" encoding="utf-8"?>
<dgm:layoutDef xmlns:dgm="http://schemas.openxmlformats.org/drawingml/2006/diagram">
  <dgm:layoutNode name="Name0">
    <dgm:choose>
      <dgm:if func="var" arg="dir" op="equ" val="norm">
        <dgm:alg type="lin">
          <dgm:param type="fallback" val="2D"/>
        </dgm:alg>
      </dgm:if>
      <dgm:else>
        <dgm:alg type="lin">
          <dgm:param type="fallback" val="2D"/>
          <dgm:param type="linDir" val="fromR"/>
        </dgm:alg>
      </dgm:else>
    </dgm:choose>
    <dgm:shape/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axis="ch" ptType="node">
      <dgm:layoutNode name="Name5" styleLbl="vennNode1">
        <dgm:alg type="tx">
          <dgm:param type="txAnchorVertCh" val="mid"/>
          <dgm:param type="txAnchorHorzCh" val="ctr"/>
        </dgm:alg>
        <dgm:shape type="ellipse"/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axis="followSib" ptType="sibTrans" cnt="1">
        <dgm:layoutNode name="space">
          <dgm:alg type="sp"/>
          <dgm:shape/>
          <dgm:presOf/>
          <dgm:constrLst/>
          <dgm:ruleLst/>
        </dgm:layoutNode>
      </dgm:forEach>
    </dgm:forEach>
  </dgm:layoutNode>
</dgm:layout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db5ada715b344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21bd214aa64e77" /><Relationship Type="http://schemas.openxmlformats.org/officeDocument/2006/relationships/notesMaster" Target="/ppt/notesMasters/notesMaster1.xml" Id="R152adf8f7a664f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d277a167c64ba5" /><Relationship Type="http://schemas.openxmlformats.org/officeDocument/2006/relationships/notesMaster" Target="/ppt/notesMasters/notesMaster1.xml" Id="Ra085c1fd189347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861324bf004ed2" /><Relationship Type="http://schemas.openxmlformats.org/officeDocument/2006/relationships/notesMaster" Target="/ppt/notesMasters/notesMaster1.xml" Id="Ra3abc76acde540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8e633fcb5b42f8" /><Relationship Type="http://schemas.openxmlformats.org/officeDocument/2006/relationships/notesMaster" Target="/ppt/notesMasters/notesMaster1.xml" Id="Rb7eba4ba344141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6654f42d734ffd" /><Relationship Type="http://schemas.openxmlformats.org/officeDocument/2006/relationships/notesMaster" Target="/ppt/notesMasters/notesMaster1.xml" Id="Re4dc3f6d3a8e40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eb65cf1b094107" /><Relationship Type="http://schemas.openxmlformats.org/officeDocument/2006/relationships/notesMaster" Target="/ppt/notesMasters/notesMaster1.xml" Id="Raac0058400b546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42bc30b73e4741" /><Relationship Type="http://schemas.openxmlformats.org/officeDocument/2006/relationships/notesMaster" Target="/ppt/notesMasters/notesMaster1.xml" Id="R97f95ef73e8043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69cadbf57a4681" /><Relationship Type="http://schemas.openxmlformats.org/officeDocument/2006/relationships/notesMaster" Target="/ppt/notesMasters/notesMaster1.xml" Id="R95483c22393046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Project details supplied by the FinSight team.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UCI Statlog German Credit Data: https://archive.ics.uci.edu/dataset/144/statlog+german+credit+data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FinSight README and data-quality report (local project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FinSight abstract and README (local project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Lessmann et al., European Journal of Operational Research (2015), doi:10.1016/j.ejor.2015.05.030</a:t>
            </a:r>
            <a:endParaRPr/>
          </a:p>
          <a:p xmlns:a="http://schemas.openxmlformats.org/drawingml/2006/main">
            <a:r>
              <a:t>Lundberg and Lee, NeurIPS (2017), https://arxiv.org/abs/1705.07874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FinSight abstract, README, and implementation decisions (local project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FinSight abstract and README (local project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UCI Statlog German Credit Data and FinSight README (local project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cc929f6ab141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7d70431fc41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f06d3429d4d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ee2c8e4494f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d8cdffe124f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8a67bd3474f3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6909dbe21a4ec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99640796404bf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ac378eee0468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9f9da51a348d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21a9dcef542a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abad22610f4af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d5626b469a497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0b2732dbc9428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7e47c8a57b459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0cc8a69f70410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38a2f74709248e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e339b3428e44b0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1823372518458f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1470895a38477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f2fd8c47c94e3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212662f8e54a6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7863A-4956-4659-9192-3D74DA4F7578}" type="datetimeFigureOut">
              <a:t>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39234F-78F1-4984-9C4D-D4C7AB587871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7863A-4956-4659-9192-3D74DA4F7578}" type="datetimeFigureOut">
              <a:t>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39234F-78F1-4984-9C4D-D4C7AB587871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7863A-4956-4659-9192-3D74DA4F7578}" type="datetimeFigureOut">
              <a:t>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39234F-78F1-4984-9C4D-D4C7AB587871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7863A-4956-4659-9192-3D74DA4F7578}" type="datetimeFigureOut">
              <a:t>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39234F-78F1-4984-9C4D-D4C7AB587871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7863A-4956-4659-9192-3D74DA4F7578}" type="datetimeFigureOut">
              <a:t>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39234F-78F1-4984-9C4D-D4C7AB587871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7863A-4956-4659-9192-3D74DA4F7578}" type="datetimeFigureOut">
              <a:t>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39234F-78F1-4984-9C4D-D4C7AB587871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7863A-4956-4659-9192-3D74DA4F7578}" type="datetimeFigureOut">
              <a:t>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39234F-78F1-4984-9C4D-D4C7AB587871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7863A-4956-4659-9192-3D74DA4F7578}" type="datetimeFigureOut">
              <a:t>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39234F-78F1-4984-9C4D-D4C7AB587871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7863A-4956-4659-9192-3D74DA4F7578}" type="datetimeFigureOut">
              <a:t>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39234F-78F1-4984-9C4D-D4C7AB587871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7863A-4956-4659-9192-3D74DA4F7578}" type="datetimeFigureOut">
              <a:t>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39234F-78F1-4984-9C4D-D4C7AB587871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7863A-4956-4659-9192-3D74DA4F7578}" type="datetimeFigureOut">
              <a:t>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39234F-78F1-4984-9C4D-D4C7AB587871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A05124-86A5-4EE4-BF5A-2DFA07B90CE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B003B2A-A688-4BBC-ACAB-3F3A481BF0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AF25D6-E20B-468F-9782-C6292040C8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1F6EA6A-8FF5-49DF-BDDD-F7431B447D8F}" type="datetime3">
              <a:t>10 September 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8E927C-1E1D-44E2-9AE3-5C486397EE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Ph.D. Viva Voce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70B00E0-1DAC-47A6-B334-71AD88A32E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AD1135-6E10-4422-AC8B-257B84239C9C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519956-B5CD-4974-AAB9-518E51D6FA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4C7AD4-0033-47BC-898B-F65DAA22D8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2A6619B-8283-4AD1-B96E-00A1B81303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F411EB6-9770-43AB-BBCE-044F1DB66B82}" type="datetime3">
              <a:t>10 September 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A964BB-A0BB-49B0-AC25-FF577D320C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Ph.D. Viva Voce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C0F4AD-64A5-4D23-A399-573B5631D9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AD1135-6E10-4422-AC8B-257B84239C9C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BD4B8F-8AF4-410B-BC6A-77FAAE7A7D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B101225-A1A4-40AB-A557-039EE2102E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06B07C-7804-494B-8605-947A8CC925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DC905DC-9CDD-41AE-979C-F366BC0443ED}" type="datetime3">
              <a:t>10 September 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00CE3F2-F0F8-4681-9C1B-B60B20AEE2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Ph.D. Viva Voce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A0A3B5-AA5C-4D3C-A01A-076A612C94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AD1135-6E10-4422-AC8B-257B84239C9C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4D5ADA-74A2-4EB8-9807-7F37DB31A2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97F69A2-F0F6-428D-84F0-9BF26663355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79452A0-FCC9-4292-9DE0-AC2BD701678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4E28781-623F-4BD4-B304-88155130D5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4FAC05-A025-4B8A-AB88-2AE8812F8A48}" type="datetime3">
              <a:t>10 September 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AF98A7A-899F-420D-8F30-3E4B3E8604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Ph.D. Viva Voce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064EC55-07C0-4746-9784-766D5C1927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AD1135-6E10-4422-AC8B-257B84239C9C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C503DA-AF59-4FDE-9864-4EE0C2E5B0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98CDC8-72D8-48C7-AA63-67E73D123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E9CF91B-94A0-4F9E-BC9A-FB6894CA4BA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23A9AB7-352D-4FF3-A4E5-896A0E269BC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ADB211D-E198-4A8D-A011-943080B7FA9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47113AF-BFE9-4289-9EFB-96C6CC294B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7906D5-6813-455D-BAA0-28A983958C32}" type="datetime3">
              <a:t>10 September 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80B4AEB-F638-46D0-99C2-A85F61216A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Ph.D. Viva Voce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9741C84-9618-4B3B-BD31-4815FC79D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AD1135-6E10-4422-AC8B-257B84239C9C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5FDD42-C448-42B9-8298-CCB3D3C54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E2ADE93-86D0-4843-A850-A7B4B9F252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F4309C4-DF5F-4FAA-9214-A2117415D598}" type="datetime3">
              <a:t>10 September 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9A9FFE9-9C41-4D31-81FA-E1B8FC51E4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Ph.D. Viva Voce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A862EBA-4FEF-40F6-AC24-7A916C64A9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AD1135-6E10-4422-AC8B-257B84239C9C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CC8EC34-5BBC-4069-A4B8-CC7D142F46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4683E30-D762-4164-BBF9-9799116ED611}" type="datetime3">
              <a:t>10 September 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D949C43-E62A-4B03-B0C3-8EF735C759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Ph.D. Viva Voce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EBB5EB0-C450-4D80-ABE5-9EA98A9709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AD1135-6E10-4422-AC8B-257B84239C9C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BE1D96-41B3-4D6A-9076-18F57A5CA5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BFCF3A6-D111-4A7C-99CD-F7140DBC2E2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1086ED3-A10F-4D80-B3CE-E29AE721C5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D0F7E70-CC64-4FA4-990F-B672BEF0D8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EEB4AA-F6FE-4EF1-9FE6-D5606E858D35}" type="datetime3">
              <a:t>10 September 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99C0F58-899F-44B3-BD78-804504F4F4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Ph.D. Viva Voce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2EABCE7-78F0-4831-B821-EA632CC286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AD1135-6E10-4422-AC8B-257B84239C9C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283C2A-501D-4CD9-92C5-95DEADCAD8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7ABB2F1-F982-4086-928C-52C47479281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0846C12-52E5-4A69-B837-177AF9B2F2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E70993D-3F6A-460D-8864-F0D79EA7D3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B547F9-D0DE-4919-BAA4-23065C38E70B}" type="datetime3">
              <a:t>10 September 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55C5D1F-2A57-468E-9850-B01AFB926D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Ph.D. Viva Voce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0C5A2BF-B8A0-4891-8CEA-819809BA42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AD1135-6E10-4422-AC8B-257B84239C9C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47E87A-2C29-47CA-84FF-33A9E57BFA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F34369-CB05-4EE9-A95A-79FDC2864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286374C-B3CD-4CF4-B501-85501894E1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0D9772-7494-4C65-A0D8-1FBD740B2E65}" type="datetime3">
              <a:t>10 September 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D9E8A9-0F69-436F-B01B-663B6C98E9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Ph.D. Viva Voce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6E2B7A-5D69-4D14-BC61-5102A2B7B5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AD1135-6E10-4422-AC8B-257B84239C9C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489F3FE-D4DE-4D76-B9F0-F994257B6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8FE6273-4F55-44B0-AC5B-E627C350CB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B1681C-05AD-4424-B38E-F6E6F63011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BB089DC-0019-49C7-8AD2-EF5D896393D8}" type="datetime3">
              <a:t>10 September 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CE118F-9D34-41B1-996F-F6B47CA1BC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Ph.D. Viva Voce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778532-05DA-42D7-AB3A-DCFF328FDA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AD1135-6E10-4422-AC8B-257B84239C9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f17321c0a5409c" /><Relationship Type="http://schemas.openxmlformats.org/officeDocument/2006/relationships/slideLayout" Target="/ppt/slideLayouts/slideLayout1.xml" Id="R5d5e4fbc4c0f4662" /><Relationship Type="http://schemas.openxmlformats.org/officeDocument/2006/relationships/slideLayout" Target="/ppt/slideLayouts/slideLayout2.xml" Id="R043c3d82effc48d3" /><Relationship Type="http://schemas.openxmlformats.org/officeDocument/2006/relationships/slideLayout" Target="/ppt/slideLayouts/slideLayout3.xml" Id="Rd6f74578c7f24193" /><Relationship Type="http://schemas.openxmlformats.org/officeDocument/2006/relationships/slideLayout" Target="/ppt/slideLayouts/slideLayout4.xml" Id="R4d9fa31025604df9" /><Relationship Type="http://schemas.openxmlformats.org/officeDocument/2006/relationships/slideLayout" Target="/ppt/slideLayouts/slideLayout5.xml" Id="R23b884d5ed9d4ce6" /><Relationship Type="http://schemas.openxmlformats.org/officeDocument/2006/relationships/slideLayout" Target="/ppt/slideLayouts/slideLayout6.xml" Id="R900feff2a06f4808" /><Relationship Type="http://schemas.openxmlformats.org/officeDocument/2006/relationships/slideLayout" Target="/ppt/slideLayouts/slideLayout7.xml" Id="Rabb4c124dbd3447e" /><Relationship Type="http://schemas.openxmlformats.org/officeDocument/2006/relationships/slideLayout" Target="/ppt/slideLayouts/slideLayout8.xml" Id="R1efa5e9777fe41b6" /><Relationship Type="http://schemas.openxmlformats.org/officeDocument/2006/relationships/slideLayout" Target="/ppt/slideLayouts/slideLayout9.xml" Id="R0876b1381e4f42da" /><Relationship Type="http://schemas.openxmlformats.org/officeDocument/2006/relationships/slideLayout" Target="/ppt/slideLayouts/slideLayout10.xml" Id="Ra226bd755b794b0f" /><Relationship Type="http://schemas.openxmlformats.org/officeDocument/2006/relationships/slideLayout" Target="/ppt/slideLayouts/slideLayout11.xml" Id="Rcbe85f0a9691462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11af64c7af44e2a" /><Relationship Type="http://schemas.openxmlformats.org/officeDocument/2006/relationships/slideLayout" Target="/ppt/slideLayouts/slideLayout12.xml" Id="R32d559cbe2d24999" /><Relationship Type="http://schemas.openxmlformats.org/officeDocument/2006/relationships/slideLayout" Target="/ppt/slideLayouts/slideLayout13.xml" Id="Reda466c4cd3343cd" /><Relationship Type="http://schemas.openxmlformats.org/officeDocument/2006/relationships/slideLayout" Target="/ppt/slideLayouts/slideLayout14.xml" Id="R1561b829cec44368" /><Relationship Type="http://schemas.openxmlformats.org/officeDocument/2006/relationships/slideLayout" Target="/ppt/slideLayouts/slideLayout15.xml" Id="R5dbd79d0b77f4e29" /><Relationship Type="http://schemas.openxmlformats.org/officeDocument/2006/relationships/slideLayout" Target="/ppt/slideLayouts/slideLayout16.xml" Id="R985061d710a747fb" /><Relationship Type="http://schemas.openxmlformats.org/officeDocument/2006/relationships/slideLayout" Target="/ppt/slideLayouts/slideLayout17.xml" Id="R49aa4c42d4514c5a" /><Relationship Type="http://schemas.openxmlformats.org/officeDocument/2006/relationships/slideLayout" Target="/ppt/slideLayouts/slideLayout18.xml" Id="Rb70a4f10fb33475b" /><Relationship Type="http://schemas.openxmlformats.org/officeDocument/2006/relationships/slideLayout" Target="/ppt/slideLayouts/slideLayout19.xml" Id="R0a608243cd2e4ae5" /><Relationship Type="http://schemas.openxmlformats.org/officeDocument/2006/relationships/slideLayout" Target="/ppt/slideLayouts/slideLayout20.xml" Id="R6a8f5dc6bd9740a8" /><Relationship Type="http://schemas.openxmlformats.org/officeDocument/2006/relationships/slideLayout" Target="/ppt/slideLayouts/slideLayout21.xml" Id="Ra61124e2431c4706" /><Relationship Type="http://schemas.openxmlformats.org/officeDocument/2006/relationships/slideLayout" Target="/ppt/slideLayouts/slideLayout22.xml" Id="R6114ce1b0e064dd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227863A-4956-4659-9192-3D74DA4F7578}" type="datetimeFigureOut">
              <a:t>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639234F-78F1-4984-9C4D-D4C7AB58787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5e4fbc4c0f4662"/>
    <p:sldLayoutId xmlns:r="http://schemas.openxmlformats.org/officeDocument/2006/relationships" id="2147483650" r:id="R043c3d82effc48d3"/>
    <p:sldLayoutId xmlns:r="http://schemas.openxmlformats.org/officeDocument/2006/relationships" id="2147483651" r:id="Rd6f74578c7f24193"/>
    <p:sldLayoutId xmlns:r="http://schemas.openxmlformats.org/officeDocument/2006/relationships" id="2147483652" r:id="R4d9fa31025604df9"/>
    <p:sldLayoutId xmlns:r="http://schemas.openxmlformats.org/officeDocument/2006/relationships" id="2147483653" r:id="R23b884d5ed9d4ce6"/>
    <p:sldLayoutId xmlns:r="http://schemas.openxmlformats.org/officeDocument/2006/relationships" id="2147483654" r:id="R900feff2a06f4808"/>
    <p:sldLayoutId xmlns:r="http://schemas.openxmlformats.org/officeDocument/2006/relationships" id="2147483655" r:id="Rabb4c124dbd3447e"/>
    <p:sldLayoutId xmlns:r="http://schemas.openxmlformats.org/officeDocument/2006/relationships" id="2147483656" r:id="R1efa5e9777fe41b6"/>
    <p:sldLayoutId xmlns:r="http://schemas.openxmlformats.org/officeDocument/2006/relationships" id="2147483657" r:id="R0876b1381e4f42da"/>
    <p:sldLayoutId xmlns:r="http://schemas.openxmlformats.org/officeDocument/2006/relationships" id="2147483658" r:id="Ra226bd755b794b0f"/>
    <p:sldLayoutId xmlns:r="http://schemas.openxmlformats.org/officeDocument/2006/relationships" id="2147483659" r:id="Rcbe85f0a9691462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3D03BF1-2C6A-492B-8369-805CCD3EEE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56327ED-6186-4FB2-A43D-42D924B27D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8363BFD-5F3E-4B5C-8276-58B17B16705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E16266A-CA82-4709-A4C2-B8B2AD8F4816}" type="datetime3">
              <a:t>10 September 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9948B2-9123-4837-AF53-5AABC9D084C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Ph.D. Viva Voce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C949BC-3143-49A5-AD4A-19B6DEC99A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1AD1135-6E10-4422-AC8B-257B84239C9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2d559cbe2d24999"/>
    <p:sldLayoutId xmlns:r="http://schemas.openxmlformats.org/officeDocument/2006/relationships" id="2147483662" r:id="Reda466c4cd3343cd"/>
    <p:sldLayoutId xmlns:r="http://schemas.openxmlformats.org/officeDocument/2006/relationships" id="2147483663" r:id="R1561b829cec44368"/>
    <p:sldLayoutId xmlns:r="http://schemas.openxmlformats.org/officeDocument/2006/relationships" id="2147483664" r:id="R5dbd79d0b77f4e29"/>
    <p:sldLayoutId xmlns:r="http://schemas.openxmlformats.org/officeDocument/2006/relationships" id="2147483665" r:id="R985061d710a747fb"/>
    <p:sldLayoutId xmlns:r="http://schemas.openxmlformats.org/officeDocument/2006/relationships" id="2147483666" r:id="R49aa4c42d4514c5a"/>
    <p:sldLayoutId xmlns:r="http://schemas.openxmlformats.org/officeDocument/2006/relationships" id="2147483667" r:id="Rb70a4f10fb33475b"/>
    <p:sldLayoutId xmlns:r="http://schemas.openxmlformats.org/officeDocument/2006/relationships" id="2147483668" r:id="R0a608243cd2e4ae5"/>
    <p:sldLayoutId xmlns:r="http://schemas.openxmlformats.org/officeDocument/2006/relationships" id="2147483669" r:id="R6a8f5dc6bd9740a8"/>
    <p:sldLayoutId xmlns:r="http://schemas.openxmlformats.org/officeDocument/2006/relationships" id="2147483670" r:id="Ra61124e2431c4706"/>
    <p:sldLayoutId xmlns:r="http://schemas.openxmlformats.org/officeDocument/2006/relationships" id="2147483671" r:id="R6114ce1b0e064dda"/>
  </p:sldLayoutIdLst>
  <p:hf hd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c8e0b9a904999" /><Relationship Type="http://schemas.openxmlformats.org/officeDocument/2006/relationships/image" Target="/ppt/media/image.png" Id="R616610d8741d4a39" /><Relationship Type="http://schemas.openxmlformats.org/officeDocument/2006/relationships/notesSlide" Target="/ppt/notesSlides/notesSlide1.xml" Id="Rd485f629c28c47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8a642c68ed141ac" /><Relationship Type="http://schemas.openxmlformats.org/officeDocument/2006/relationships/image" Target="/ppt/media/image2.png" Id="R7471843075e6465a" /><Relationship Type="http://schemas.openxmlformats.org/officeDocument/2006/relationships/image" Target="/ppt/media/image.svg" Id="R3d5c68c5969a42d1" /><Relationship Type="http://schemas.openxmlformats.org/officeDocument/2006/relationships/diagramData" Target="/ppt/graphics/data1.xml" Id="R084d7e0126c64ce5" /><Relationship Type="http://schemas.openxmlformats.org/officeDocument/2006/relationships/diagramLayout" Target="/ppt/graphics/layout1.xml" Id="Rb28c561c46da4d07" /><Relationship Type="http://schemas.openxmlformats.org/officeDocument/2006/relationships/image" Target="/ppt/media/image.png" Id="R84d95f2af3c8471b" /><Relationship Type="http://schemas.openxmlformats.org/officeDocument/2006/relationships/notesSlide" Target="/ppt/notesSlides/notesSlide2.xml" Id="R4f536622e04843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8e98a439b4a87" /><Relationship Type="http://schemas.openxmlformats.org/officeDocument/2006/relationships/image" Target="/ppt/media/image.png" Id="R135d57e68e274b83" /><Relationship Type="http://schemas.openxmlformats.org/officeDocument/2006/relationships/notesSlide" Target="/ppt/notesSlides/notesSlide3.xml" Id="Rb12baa9c9efd46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57fc67afa47cf" /><Relationship Type="http://schemas.openxmlformats.org/officeDocument/2006/relationships/image" Target="/ppt/media/image.png" Id="R58fb5645faa64f82" /><Relationship Type="http://schemas.openxmlformats.org/officeDocument/2006/relationships/notesSlide" Target="/ppt/notesSlides/notesSlide4.xml" Id="Rfc8dc80121564a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cabe32958e486e" /><Relationship Type="http://schemas.openxmlformats.org/officeDocument/2006/relationships/image" Target="/ppt/media/image.png" Id="Ra0b044180ad042ef" /><Relationship Type="http://schemas.openxmlformats.org/officeDocument/2006/relationships/notesSlide" Target="/ppt/notesSlides/notesSlide5.xml" Id="R602c212a623b48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7e02edc524860" /><Relationship Type="http://schemas.openxmlformats.org/officeDocument/2006/relationships/image" Target="/ppt/media/image.png" Id="Rb13a6f370e0a4757" /><Relationship Type="http://schemas.openxmlformats.org/officeDocument/2006/relationships/notesSlide" Target="/ppt/notesSlides/notesSlide6.xml" Id="Rf36dcec4e9ea4d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1daa46cf149a8" /><Relationship Type="http://schemas.openxmlformats.org/officeDocument/2006/relationships/image" Target="/ppt/media/image.png" Id="R5485303396524cfa" /><Relationship Type="http://schemas.openxmlformats.org/officeDocument/2006/relationships/notesSlide" Target="/ppt/notesSlides/notesSlide7.xml" Id="R699ec940d4c447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fe5d2539a4d77" /><Relationship Type="http://schemas.openxmlformats.org/officeDocument/2006/relationships/image" Target="/ppt/media/image.png" Id="R1cb483c76d834627" /><Relationship Type="http://schemas.openxmlformats.org/officeDocument/2006/relationships/notesSlide" Target="/ppt/notesSlides/notesSlide8.xml" Id="Rd70435f1ada24a9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2" y="2868213"/>
            <a:ext cx="6200774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sz="6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DATA SCIENCE (24AD3107)  |  PROJECT REVIEW - 1</a:t>
            </a:r>
          </a:p>
        </p:txBody>
      </p:sp>
      <p:graphicFrame>
        <p:nvGraphicFramePr>
          <p:cNvPr id="41" name="Table 17"/>
          <p:cNvGraphicFramePr/>
          <p:nvPr/>
        </p:nvGraphicFramePr>
        <p:xfrm>
          <a:off xmlns:a="http://schemas.openxmlformats.org/drawingml/2006/main" x="8193271" y="4898509"/>
          <a:ext xmlns:a="http://schemas.openxmlformats.org/drawingml/2006/main" cx="3702050" cy="7924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/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TEAM MEMBERS</a:t>
                      </a:r>
                    </a:p>
                    <a:p>
                      <a:pPr marL="0" algn="l" defTabSz="914400">
                        <a:buNone/>
                      </a:pPr>
                      <a:r>
                        <a:rPr sz="16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endParaRPr sz="1400" b="1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M. Manasvini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2420030475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N. Sreeja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2420030267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M. Sahasra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2420030459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 Sreeja Reddy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2420030548</a:t>
                      </a: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22" name="Isosceles Triangle 21">
            <a:extLst xmlns:a="http://schemas.openxmlformats.org/drawingml/2006/main">
              <a:ext uri="{FF2B5EF4-FFF2-40B4-BE49-F238E27FC236}">
                <a16:creationId xmlns:a16="http://schemas.microsoft.com/office/drawing/2014/main" id="{E48399A6-AAB5-B502-9670-34E0FCDF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294948" flipH="0" flipV="0">
            <a:off x="8038280" y="4765558"/>
            <a:ext cx="160845" cy="23299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6FF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highlight>
                <a:srgbClr val="FFFF00"/>
              </a:highlight>
            </a:endParaRPr>
          </a:p>
        </p:txBody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67E59050-351C-0873-0298-AB77EA52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852143" flipH="0" flipV="0">
            <a:off x="8154275" y="4791870"/>
            <a:ext cx="114245" cy="15337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6FF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4" name="Table 29"/>
          <p:cNvGraphicFramePr/>
          <p:nvPr/>
        </p:nvGraphicFramePr>
        <p:xfrm>
          <a:off xmlns:a="http://schemas.openxmlformats.org/drawingml/2006/main" x="-795813" y="4774125"/>
          <a:ext xmlns:a="http://schemas.openxmlformats.org/drawingml/2006/main" cx="5902325" cy="13665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/>
                <a:gridCol w="4528760"/>
              </a:tblGrid>
              <a:tr h="1332118">
                <a:tc>
                  <a:txBody>
                    <a:bodyPr/>
                    <a:lstStyle/>
                    <a:p>
                      <a:r>
                        <a:t>Under the Guidance of</a:t>
                      </a:r>
                      <a:endParaRPr/>
                    </a:p>
                    <a:p>
                      <a:r>
                        <a:t>Ms. Prathusha</a:t>
                      </a:r>
                      <a:endParaRPr/>
                    </a:p>
                    <a:p>
                      <a:r>
                        <a:t>Department of CSE</a:t>
                      </a:r>
                      <a:endParaRPr/>
                    </a:p>
                  </a:txBody>
                  <a:tcPr marL="91440" marR="91440" marT="45720" marB="45720">
                    <a:lnL w="12700" cmpd="sng"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500" b="1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r>
                        <a:rPr sz="1600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Dr.XXXXXX</a:t>
                      </a:r>
                      <a:endParaRPr sz="14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XXXXXX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sz="14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Department of </a:t>
                      </a:r>
                      <a:r>
                        <a:rPr sz="1400" b="1">
                          <a:solidFill>
                            <a:prstClr val="black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sz="1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KLH CSE Bowrampet Campus</a:t>
                      </a:r>
                      <a:endParaRPr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32" name="Isosceles Triangle 31">
            <a:extLst xmlns:a="http://schemas.openxmlformats.org/drawingml/2006/main">
              <a:ext uri="{FF2B5EF4-FFF2-40B4-BE49-F238E27FC236}">
                <a16:creationId xmlns:a16="http://schemas.microsoft.com/office/drawing/2014/main" id="{FE269535-B3A3-75F2-310C-D43D8AC3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294948" flipH="0" flipV="0">
            <a:off x="442519" y="4562547"/>
            <a:ext cx="160845" cy="23299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B0F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highlight>
                <a:srgbClr val="FFFF00"/>
              </a:highlight>
            </a:endParaRPr>
          </a:p>
        </p:txBody>
      </p:sp>
      <p:sp>
        <p:nvSpPr>
          <p:cNvPr id="33" name="Isosceles Triangle 32">
            <a:extLst xmlns:a="http://schemas.openxmlformats.org/drawingml/2006/main">
              <a:ext uri="{FF2B5EF4-FFF2-40B4-BE49-F238E27FC236}">
                <a16:creationId xmlns:a16="http://schemas.microsoft.com/office/drawing/2014/main" id="{FA8E9237-F9D3-FB94-D6EB-94D77AEF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852143" flipH="0" flipV="0">
            <a:off x="558514" y="4588859"/>
            <a:ext cx="114245" cy="15337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B0F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Date Placeholder 33">
            <a:extLst xmlns:a="http://schemas.openxmlformats.org/drawingml/2006/main"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Date</a:t>
            </a:r>
            <a:endParaRPr b="1"/>
          </a:p>
        </p:txBody>
      </p:sp>
      <p:sp>
        <p:nvSpPr>
          <p:cNvPr id="35" name="Footer Placeholder 34">
            <a:extLst xmlns:a="http://schemas.openxmlformats.org/drawingml/2006/main"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SOA Project Review-1</a:t>
            </a:r>
          </a:p>
        </p:txBody>
      </p:sp>
      <p:sp>
        <p:nvSpPr>
          <p:cNvPr id="36" name="Slide Number Placeholder 35">
            <a:extLst xmlns:a="http://schemas.openxmlformats.org/drawingml/2006/main"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AD1135-6E10-4422-AC8B-257B84239C9C}" type="slidenum">
              <a:t>1</a:t>
            </a:fld>
            <a:endParaRPr/>
          </a:p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69267"/>
            <a:ext cx="10915650" cy="985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70C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1" i="0" u="none" kern="1200" cap="none" spc="0" baseline="0">
              <a:ln>
                <a:noFill/>
              </a:ln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610d8741d4a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9380" y="0"/>
            <a:ext cx="1942620" cy="62255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" y="810857"/>
            <a:ext cx="1071562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>
              <a:buNone/>
            </a:pPr>
            <a:r>
              <a:rPr sz="28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FinSight</a:t>
            </a:r>
            <a:endParaRPr sz="3600" b="0" i="0" u="none" kern="1200" cap="none" spc="0" baseline="0">
              <a:ln>
                <a:noFill/>
              </a:ln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" y="2246806"/>
            <a:ext cx="10715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>
              <a:buNone/>
            </a:pPr>
            <a:r>
              <a:rPr sz="3200" b="1">
                <a:latin typeface="Times New Roman"/>
                <a:ea typeface="Times New Roman"/>
                <a:cs typeface="Times New Roman"/>
              </a:rPr>
              <a:t>Explainable Credit Risk Analytics and Loan Decision Support System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0" i="0" u="none" kern="1200" cap="none" spc="0" baseline="0">
              <a:ln>
                <a:noFill/>
              </a:ln>
              <a:solidFill>
                <a:prstClr val="black">
                  <a:tint val="75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200" b="0" i="0" u="none" kern="1200" cap="none" spc="0" baseline="0">
              <a:ln>
                <a:noFill/>
              </a:ln>
              <a:solidFill>
                <a:prstClr val="black">
                  <a:tint val="75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5A3A418F-4DEE-4BB1-940B-1145D135750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Calibri"/>
                <a:ea typeface="Calibri"/>
                <a:cs typeface="Calibri"/>
              </a:rPr>
              <a:t>2</a:t>
            </a:fld>
            <a:endParaRPr sz="1200" b="0" i="0" u="none" kern="1200" cap="none" spc="0" baseline="0">
              <a:ln>
                <a:noFill/>
              </a:ln>
              <a:solidFill>
                <a:prstClr val="black">
                  <a:tint val="75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906" y="173546"/>
            <a:ext cx="5854242" cy="64633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2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600" b="1" i="0" u="none" cap="none" spc="0">
                <a:ln w="0"/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Outline of Project Work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0A4CA55-824E-91B2-D5F9-032778D4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47251" y="2978774"/>
            <a:ext cx="4267376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1905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2">
            <a:schemeClr val="accent2"/>
          </a:fillRef>
          <a:effectRef xmlns:a="http://schemas.openxmlformats.org/drawingml/2006/main" idx="1">
            <a:schemeClr val="accent2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rPr sz="2000" b="1" i="0" u="none" cap="none" spc="0">
                <a:ln>
                  <a:noFill/>
                </a:ln>
                <a:solidFill>
                  <a:prstClr val="white"/>
                </a:solidFill>
                <a:latin typeface="Times New Roman"/>
                <a:ea typeface="Times New Roman"/>
                <a:cs typeface="Times New Roman"/>
              </a:rPr>
              <a:t>Challenges</a:t>
            </a: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/>
            </a:r>
            <a:endParaRPr sz="200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>Data quality</a:t>
            </a:r>
            <a:endParaRPr sz="200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>Class imbalance</a:t>
            </a:r>
            <a:endParaRPr sz="200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>Cost-sensitive errors</a:t>
            </a:r>
            <a:endParaRPr sz="200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E7E17B2-5AF8-C463-91C3-5B87FC77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94614" y="3474789"/>
            <a:ext cx="4374693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1905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2">
            <a:schemeClr val="accent2"/>
          </a:fillRef>
          <a:effectRef xmlns:a="http://schemas.openxmlformats.org/drawingml/2006/main" idx="1">
            <a:schemeClr val="accent2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rPr sz="1800" b="1" i="0" u="none" cap="none" spc="0">
                <a:ln>
                  <a:noFill/>
                </a:ln>
                <a:solidFill>
                  <a:prstClr val="white"/>
                </a:solidFill>
                <a:latin typeface="Times New Roman"/>
                <a:ea typeface="Times New Roman"/>
                <a:cs typeface="Times New Roman"/>
              </a:rPr>
              <a:t>Research objectives</a:t>
            </a: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/>
            </a:r>
            <a:endParaRPr sz="180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>Predict</a:t>
            </a:r>
            <a:endParaRPr sz="180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>Explain</a:t>
            </a:r>
            <a:endParaRPr sz="180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>Evaluate responsibly</a:t>
            </a:r>
            <a:endParaRPr sz="180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D160BA9-A291-1BA5-C03E-7218C216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11643" y="4054267"/>
            <a:ext cx="4529560" cy="19293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1905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2">
            <a:schemeClr val="accent2"/>
          </a:fillRef>
          <a:effectRef xmlns:a="http://schemas.openxmlformats.org/drawingml/2006/main" idx="1">
            <a:schemeClr val="accent2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504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rPr sz="1800" b="1" i="0" u="none" cap="none" spc="0">
                <a:ln>
                  <a:noFill/>
                </a:ln>
                <a:solidFill>
                  <a:prstClr val="white"/>
                </a:solidFill>
                <a:latin typeface="Times New Roman"/>
                <a:ea typeface="Times New Roman"/>
                <a:cs typeface="Times New Roman"/>
              </a:rPr>
              <a:t>Conclusion &amp; future work</a:t>
            </a: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504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/>
            </a:r>
            <a:endParaRPr sz="180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504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>Dashboard</a:t>
            </a:r>
            <a:endParaRPr sz="180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504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>Cloud extension</a:t>
            </a:r>
            <a:endParaRPr sz="180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C792DA3-F484-948A-E346-F158FE24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7869" y="4601658"/>
            <a:ext cx="4774676" cy="211226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1905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2">
            <a:schemeClr val="accent2"/>
          </a:fillRef>
          <a:effectRef xmlns:a="http://schemas.openxmlformats.org/drawingml/2006/main" idx="1">
            <a:schemeClr val="accent2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504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rPr sz="2000" b="1" i="0" u="none" cap="none" spc="0">
                <a:ln>
                  <a:noFill/>
                </a:ln>
                <a:solidFill>
                  <a:prstClr val="white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sz="1800" b="1" i="0" u="none" kern="1200" cap="none" spc="0" baseline="0">
              <a:ln>
                <a:noFill/>
              </a:ln>
              <a:solidFill>
                <a:prstClr val="white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504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rPr sz="2000" b="1" i="0" u="none" cap="none" spc="0">
                <a:ln>
                  <a:noFill/>
                </a:ln>
                <a:solidFill>
                  <a:prstClr val="white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1800" b="1" i="0" u="none" kern="1200" cap="none" spc="0" baseline="0">
              <a:ln>
                <a:noFill/>
              </a:ln>
              <a:solidFill>
                <a:prstClr val="white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504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rPr sz="2000" b="1" i="0" u="none" cap="none" spc="0">
                <a:ln>
                  <a:noFill/>
                </a:ln>
                <a:solidFill>
                  <a:prstClr val="white"/>
                </a:solidFill>
                <a:latin typeface="Times New Roman"/>
                <a:ea typeface="Times New Roman"/>
                <a:cs typeface="Times New Roman"/>
              </a:rPr>
              <a:t>UCI dataset</a:t>
            </a:r>
            <a:endParaRPr sz="1800" b="1" i="0" u="none" kern="1200" cap="none" spc="0" baseline="0">
              <a:ln>
                <a:noFill/>
              </a:ln>
              <a:solidFill>
                <a:prstClr val="white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504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rPr sz="2000" b="1" i="0" u="none" cap="none" spc="0">
                <a:ln>
                  <a:noFill/>
                </a:ln>
                <a:solidFill>
                  <a:prstClr val="white"/>
                </a:solidFill>
                <a:latin typeface="Times New Roman"/>
                <a:ea typeface="Times New Roman"/>
                <a:cs typeface="Times New Roman"/>
              </a:rPr>
              <a:t>SHAP research</a:t>
            </a:r>
            <a:endParaRPr sz="1800" b="1" i="0" u="none" kern="1200" cap="none" spc="0" baseline="0">
              <a:ln>
                <a:noFill/>
              </a:ln>
              <a:solidFill>
                <a:prstClr val="white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57E2443-43F4-3FA3-6C83-796D6B45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94267" y="5204369"/>
            <a:ext cx="4891526" cy="14538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1905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2">
            <a:schemeClr val="accent2"/>
          </a:fillRef>
          <a:effectRef xmlns:a="http://schemas.openxmlformats.org/drawingml/2006/main" idx="1">
            <a:schemeClr val="accent2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504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rPr sz="1800" b="1" i="0" u="none" cap="none" spc="0">
                <a:ln>
                  <a:noFill/>
                </a:ln>
                <a:solidFill>
                  <a:prstClr val="white"/>
                </a:solidFill>
                <a:latin typeface="Times New Roman"/>
                <a:ea typeface="Times New Roman"/>
                <a:cs typeface="Times New Roman"/>
              </a:rPr>
              <a:t>Publications details</a:t>
            </a: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504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/>
            </a:r>
            <a:endParaRPr sz="100" b="1" i="0" u="none" kern="1200" cap="none" spc="0" baseline="0">
              <a:ln>
                <a:noFill/>
              </a:ln>
              <a:solidFill>
                <a:prstClr val="white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504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>Credit scoring benchmarks</a:t>
            </a:r>
            <a:endParaRPr sz="100" b="1" i="0" u="none" kern="1200" cap="none" spc="0" baseline="0">
              <a:ln>
                <a:noFill/>
              </a:ln>
              <a:solidFill>
                <a:prstClr val="white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0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1843075e6465a">
            <a:extLst>
              <a:ext uri="{96DAC541-7B7A-43D3-8B79-37D633B846F1}">
                <asvg:svgBlip xmlns:asvg="http://schemas.microsoft.com/office/drawing/2016/SVG/main" r:embed="R3d5c68c5969a42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415757" flipH="1" flipV="0">
            <a:off x="8301248" y="4723817"/>
            <a:ext cx="455841" cy="536286"/>
          </a:xfrm>
          <a:prstGeom xmlns:a="http://schemas.openxmlformats.org/drawingml/2006/main" prst="rect">
            <a:avLst/>
          </a:prstGeom>
        </p:spPr>
      </p:pic>
      <p:sp>
        <p:nvSpPr>
          <p:cNvPr id="28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F1211E34-5F1E-9B5C-4C59-2549F412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1361" y="1377996"/>
            <a:ext cx="3548330" cy="7489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19050" cmpd="sng">
            <a:solidFill>
              <a:schemeClr val="accent4"/>
            </a:solidFill>
            <a:prstDash val="solid"/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2">
            <a:schemeClr val="accent2"/>
          </a:fillRef>
          <a:effectRef xmlns:a="http://schemas.openxmlformats.org/drawingml/2006/main" idx="1">
            <a:schemeClr val="accent2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lIns="91440" tIns="45720" rIns="91440" bIns="45720">
            <a:normAutofit fontScale="3784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430213" marR="0" lvl="0" indent="-34290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rPr sz="2000" b="1" i="0" u="none" cap="none" spc="0">
                <a:ln>
                  <a:noFill/>
                </a:ln>
                <a:solidFill>
                  <a:prstClr val="white"/>
                </a:solidFill>
                <a:latin typeface="Times New Roman"/>
                <a:ea typeface="Times New Roman"/>
                <a:cs typeface="Times New Roman"/>
              </a:rPr>
              <a:t>Project focus</a:t>
            </a:r>
          </a:p>
          <a:p xmlns:a="http://schemas.openxmlformats.org/drawingml/2006/main">
            <a:pPr marL="430213" marR="0" lvl="0" indent="-34290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/>
            </a:r>
            <a:endParaRPr sz="200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30213" marR="0" lvl="0" indent="-34290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>Credit risk analytics</a:t>
            </a:r>
            <a:endParaRPr sz="200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4D713724-2EA7-CA04-47B9-F63B3DAC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81519" y="1939177"/>
            <a:ext cx="3886200" cy="66622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19050" cmpd="sng">
            <a:solidFill>
              <a:schemeClr val="accent4"/>
            </a:solidFill>
            <a:prstDash val="solid"/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2">
            <a:schemeClr val="accent2"/>
          </a:fillRef>
          <a:effectRef xmlns:a="http://schemas.openxmlformats.org/drawingml/2006/main" idx="1">
            <a:schemeClr val="accent2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lIns="91440" tIns="45720" rIns="91440" bIns="45720">
            <a:normAutofit fontScale="3308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430213" marR="0" lvl="0" indent="-34290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rPr sz="2000" b="1" i="0" u="none" cap="none" spc="0">
                <a:ln>
                  <a:noFill/>
                </a:ln>
                <a:solidFill>
                  <a:prstClr val="white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  <a:p xmlns:a="http://schemas.openxmlformats.org/drawingml/2006/main">
            <a:pPr marL="430213" marR="0" lvl="0" indent="-34290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/>
            </a:r>
            <a:endParaRPr sz="200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30213" marR="0" lvl="0" indent="-34290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t>Dataset and context</a:t>
            </a:r>
            <a:endParaRPr sz="200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3" name="Graphic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1843075e6465a">
            <a:extLst>
              <a:ext uri="{96DAC541-7B7A-43D3-8B79-37D633B846F1}">
                <asvg:svgBlip xmlns:asvg="http://schemas.microsoft.com/office/drawing/2016/SVG/main" r:embed="R3d5c68c5969a42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415757" flipH="1" flipV="0">
            <a:off x="7755241" y="4080218"/>
            <a:ext cx="455841" cy="536286"/>
          </a:xfrm>
          <a:prstGeom xmlns:a="http://schemas.openxmlformats.org/drawingml/2006/main" prst="rect">
            <a:avLst/>
          </a:prstGeom>
        </p:spPr>
      </p:pic>
      <p:pic>
        <p:nvPicPr>
          <p:cNvPr id="54" name="Graphic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1843075e6465a">
            <a:extLst>
              <a:ext uri="{96DAC541-7B7A-43D3-8B79-37D633B846F1}">
                <asvg:svgBlip xmlns:asvg="http://schemas.microsoft.com/office/drawing/2016/SVG/main" r:embed="R3d5c68c5969a42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415757" flipH="1" flipV="0">
            <a:off x="7301660" y="3534836"/>
            <a:ext cx="455841" cy="536286"/>
          </a:xfrm>
          <a:prstGeom xmlns:a="http://schemas.openxmlformats.org/drawingml/2006/main" prst="rect">
            <a:avLst/>
          </a:prstGeom>
        </p:spPr>
      </p:pic>
      <p:pic>
        <p:nvPicPr>
          <p:cNvPr id="55" name="Graphic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1843075e6465a">
            <a:extLst>
              <a:ext uri="{96DAC541-7B7A-43D3-8B79-37D633B846F1}">
                <asvg:svgBlip xmlns:asvg="http://schemas.microsoft.com/office/drawing/2016/SVG/main" r:embed="R3d5c68c5969a42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415757" flipH="1" flipV="0">
            <a:off x="6935071" y="2921842"/>
            <a:ext cx="455841" cy="536286"/>
          </a:xfrm>
          <a:prstGeom xmlns:a="http://schemas.openxmlformats.org/drawingml/2006/main" prst="rect">
            <a:avLst/>
          </a:prstGeom>
        </p:spPr>
      </p:pic>
      <p:pic>
        <p:nvPicPr>
          <p:cNvPr id="56" name="Graphic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1843075e6465a">
            <a:extLst>
              <a:ext uri="{96DAC541-7B7A-43D3-8B79-37D633B846F1}">
                <asvg:svgBlip xmlns:asvg="http://schemas.microsoft.com/office/drawing/2016/SVG/main" r:embed="R3d5c68c5969a42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415757" flipH="1" flipV="0">
            <a:off x="6514914" y="2488296"/>
            <a:ext cx="455841" cy="536286"/>
          </a:xfrm>
          <a:prstGeom xmlns:a="http://schemas.openxmlformats.org/drawingml/2006/main" prst="rect">
            <a:avLst/>
          </a:prstGeom>
        </p:spPr>
      </p:pic>
      <p:pic>
        <p:nvPicPr>
          <p:cNvPr id="57" name="Graphic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1843075e6465a">
            <a:extLst>
              <a:ext uri="{96DAC541-7B7A-43D3-8B79-37D633B846F1}">
                <asvg:svgBlip xmlns:asvg="http://schemas.microsoft.com/office/drawing/2016/SVG/main" r:embed="R3d5c68c5969a42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415757" flipH="1" flipV="0">
            <a:off x="6112110" y="1973863"/>
            <a:ext cx="455841" cy="536286"/>
          </a:xfrm>
          <a:prstGeom xmlns:a="http://schemas.openxmlformats.org/drawingml/2006/main" prst="rect">
            <a:avLst/>
          </a:prstGeom>
        </p:spPr>
      </p:pic>
      <p:pic>
        <p:nvPicPr>
          <p:cNvPr id="58" name="Graphic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1843075e6465a">
            <a:extLst>
              <a:ext uri="{96DAC541-7B7A-43D3-8B79-37D633B846F1}">
                <asvg:svgBlip xmlns:asvg="http://schemas.microsoft.com/office/drawing/2016/SVG/main" r:embed="R3d5c68c5969a42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415757" flipH="1" flipV="0">
            <a:off x="5697840" y="1442634"/>
            <a:ext cx="455841" cy="536286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76F380C-3238-E430-3C22-3C23884C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2129" y="2494967"/>
            <a:ext cx="4004225" cy="14904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1905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2">
            <a:schemeClr val="accent2"/>
          </a:fillRef>
          <a:effectRef xmlns:a="http://schemas.openxmlformats.org/drawingml/2006/main" idx="1">
            <a:schemeClr val="accent2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rPr sz="2040" b="1" i="0" u="none" cap="none" spc="0">
                <a:ln>
                  <a:noFill/>
                </a:ln>
                <a:solidFill>
                  <a:prstClr val="white"/>
                </a:solidFill>
                <a:latin typeface="Times New Roman"/>
                <a:ea typeface="Times New Roman"/>
                <a:cs typeface="Times New Roman"/>
              </a:rPr>
              <a:t>Literature survey</a:t>
            </a:r>
            <a:endParaRPr sz="204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rPr sz="2040" b="1" i="0" u="none" cap="none" spc="0">
                <a:ln>
                  <a:noFill/>
                </a:ln>
                <a:solidFill>
                  <a:prstClr val="white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04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430213" marR="0" lvl="0" indent="-34290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2520"/>
              <a:buFont typeface="Arial"/>
              <a:buChar char="•"/>
              <a:tabLst>
                <a:tab pos="444500" algn="l"/>
              </a:tabLst>
            </a:pPr>
            <a:r>
              <a:rPr sz="2040" b="1" i="0" u="none" cap="none" spc="0">
                <a:ln>
                  <a:noFill/>
                </a:ln>
                <a:solidFill>
                  <a:prstClr val="white"/>
                </a:solidFill>
                <a:latin typeface="Times New Roman"/>
                <a:ea typeface="Times New Roman"/>
                <a:cs typeface="Times New Roman"/>
              </a:rPr>
              <a:t>Credit scoring and SHAP</a:t>
            </a:r>
            <a:endParaRPr sz="2040" b="1" i="0" u="none" kern="1200" cap="none" spc="0" baseline="0">
              <a:ln>
                <a:noFill/>
              </a:ln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60" name="Diagram 25"/>
          <p:cNvGraphicFramePr/>
          <p:nvPr/>
        </p:nvGraphicFramePr>
        <p:xfrm>
          <a:off xmlns:a="http://schemas.openxmlformats.org/drawingml/2006/main" x="41510" y="115414"/>
          <a:ext xmlns:a="http://schemas.openxmlformats.org/drawingml/2006/main" cx="1474694" cy="942343"/>
        </p:xfrm>
        <a:graphic xmlns:a="http://schemas.openxmlformats.org/drawingml/2006/main">
          <a:graphicData uri="http://schemas.openxmlformats.org/drawingml/2006/diagram">
            <dgm:relIds xmlns:r="http://schemas.openxmlformats.org/officeDocument/2006/relationships" xmlns:dgm="http://schemas.openxmlformats.org/drawingml/2006/diagram" r:dm="R084d7e0126c64ce5" r:lo="Rb28c561c46da4d07"/>
          </a:graphicData>
        </a:graphic>
      </p:graphicFrame>
      <p:pic>
        <p:nvPicPr>
          <p:cNvPr id="6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95f2af3c847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9380" y="0"/>
            <a:ext cx="1901110" cy="622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897" y="482232"/>
            <a:ext cx="609600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b="1"/>
              <a:t>Problem Statement</a:t>
            </a:r>
          </a:p>
        </p:txBody>
      </p:sp>
      <p:pic>
        <p:nvPicPr>
          <p:cNvPr id="1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d57e68e274b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9380" y="0"/>
            <a:ext cx="1942620" cy="622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B7207-D322-46CE-A926-85B77F0F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85875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8" name="body-3">
            <a:extLst xmlns:a="http://schemas.openxmlformats.org/drawingml/2006/main">
              <a:ext uri="{FF2B5EF4-FFF2-40B4-BE49-F238E27FC236}">
                <a16:creationId xmlns:a16="http://schemas.microsoft.com/office/drawing/2014/main" id="{A01EF984-4836-45CD-B8C4-3B55451F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10058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Financial institutions must decide whether applicants represent good or bad credit risks.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The UCI dataset contains mixed numerical and categorical attributes, symbolic codes, and an imbalanced target distribution. A model that reports only accuracy can hide costly errors, especially when a high-risk applicant is classified as low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FinSight addresses the need for a reproducible pipeline that prepares the data, compares predictive models, and explains the reasons behind individual risk predictions.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9169"/>
            <a:ext cx="609600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/>
              <a:t>Objectives</a:t>
            </a:r>
          </a:p>
        </p:txBody>
      </p:sp>
      <p:pic>
        <p:nvPicPr>
          <p:cNvPr id="1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b5645faa64f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9380" y="0"/>
            <a:ext cx="1942620" cy="622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E0F19-B6A8-433A-8444-5F2771C5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85875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8" name="body-4">
            <a:extLst xmlns:a="http://schemas.openxmlformats.org/drawingml/2006/main">
              <a:ext uri="{FF2B5EF4-FFF2-40B4-BE49-F238E27FC236}">
                <a16:creationId xmlns:a16="http://schemas.microsoft.com/office/drawing/2014/main" id="{AC951F0C-C113-4E2C-8A4B-1F7267B4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10058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1. Acquire and document the original UCI German Credit dataset.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2. Convert the raw file into a labelled and typed pandas DataFrame.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3. Validate dimensions, missing values, duplicates, target values, and categorical codes.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4. Compare classification models using precision, recall, F1-score, ROC-AUC, and confusion matrices.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5. Explain predictions with SHAP and present results through a Streamlit dashboard.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Content Placeholder 3"/>
          <p:cNvGraphicFramePr/>
          <p:nvPr/>
        </p:nvGraphicFramePr>
        <p:xfrm>
          <a:off xmlns:a="http://schemas.openxmlformats.org/drawingml/2006/main" x="274646" y="689466"/>
          <a:ext xmlns:a="http://schemas.openxmlformats.org/drawingml/2006/main" cx="11642705" cy="510879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/>
                <a:gridCol w="2275288"/>
                <a:gridCol w="2476109"/>
                <a:gridCol w="2936588"/>
                <a:gridCol w="2865714"/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Authors</a:t>
                      </a:r>
                    </a:p>
                  </a:txBody>
                  <a:tcPr marL="91440" marR="91440" marT="45720" marB="4572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Title of the Paper</a:t>
                      </a:r>
                    </a:p>
                  </a:txBody>
                  <a:tcPr marL="91440" marR="91440" marT="45720" marB="4572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Methodology</a:t>
                      </a:r>
                    </a:p>
                  </a:txBody>
                  <a:tcPr marL="91440" marR="91440" marT="45720" marB="4572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Inferences</a:t>
                      </a:r>
                    </a:p>
                  </a:txBody>
                  <a:tcPr marL="91440" marR="91440" marT="45720" marB="4572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Limitation/Future work</a:t>
                      </a:r>
                    </a:p>
                  </a:txBody>
                  <a:tcPr marL="91440" marR="91440" marT="45720" marB="45720">
                    <a:solidFill>
                      <a:srgbClr val="FFFF00"/>
                    </a:solidFill>
                  </a:tcPr>
                </a:tc>
              </a:tr>
              <a:tr h="1541937"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r>
                        <a:rPr sz="1400" b="0" i="0" u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Hilal et. al. [</a:t>
                      </a:r>
                      <a:r>
                        <a:rPr sz="1400" b="1" i="0" u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r>
                        <a:rPr sz="1400" b="0" i="0" u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 i="0" u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Intelligent Epileptic Seizure Detection and Classification Model Using Optimal Deep Canonical Sparse Autoencoder, </a:t>
                      </a:r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Biology, 2022-mdpi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285750" marR="0" indent="-28575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Coyote optimization algorithm </a:t>
                      </a:r>
                      <a:r>
                        <a:rPr sz="1400" b="0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(COA) for feature selection </a:t>
                      </a:r>
                    </a:p>
                    <a:p>
                      <a:pPr marL="285750" marR="0" indent="-28575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Krill herd algorithm </a:t>
                      </a:r>
                      <a:r>
                        <a:rPr sz="1400" b="0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(KHA) for parameter tuning</a:t>
                      </a:r>
                      <a:endParaRPr sz="1400" b="0" i="0" kern="12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285750" marR="0" indent="-28575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sz="1400" b="0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intelligent deep canonical sparse autoencoder-based epileptic seizure detection and classification model using EEG signals. </a:t>
                      </a:r>
                    </a:p>
                    <a:p>
                      <a:pPr marL="285750" marR="0" indent="-28575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sz="1400" b="0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It achieves a </a:t>
                      </a:r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maximum</a:t>
                      </a:r>
                      <a:r>
                        <a:rPr sz="1400" b="0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</a:t>
                      </a:r>
                      <a:r>
                        <a:rPr sz="1400" b="0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of </a:t>
                      </a:r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98.67% </a:t>
                      </a:r>
                      <a:r>
                        <a:rPr sz="1400" b="0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</a:t>
                      </a:r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98.73%</a:t>
                      </a:r>
                      <a:r>
                        <a:rPr sz="1400" b="0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under </a:t>
                      </a:r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binary</a:t>
                      </a:r>
                      <a:r>
                        <a:rPr sz="1400" b="0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and </a:t>
                      </a:r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multi-classification,</a:t>
                      </a:r>
                      <a:r>
                        <a:rPr sz="1400" b="0" i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respectively.</a:t>
                      </a:r>
                      <a:endParaRPr sz="1400" b="0" i="0" kern="12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285750" indent="-285750" algn="l" defTabSz="914400">
                        <a:buFont typeface="Arial"/>
                        <a:buChar char="•"/>
                      </a:pPr>
                      <a:r>
                        <a:rPr sz="1400" b="0" i="0" u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 paper does not mention the specific limitations of the proposed </a:t>
                      </a:r>
                      <a:r>
                        <a:rPr sz="1400" b="1" i="0" u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DCSAE-ESDC </a:t>
                      </a:r>
                      <a:r>
                        <a:rPr sz="1400" b="0" i="0" u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technique or the experimental analysis conducted using the benchmark epileptic seizure dataset</a:t>
                      </a:r>
                      <a:endParaRPr sz="1400" b="0" i="0" u="none" kern="12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</a:tr>
              <a:tr h="1354600"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400" b="0" i="0" u="none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endParaRPr sz="1400" b="1" i="0" u="none" kern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285750" marR="0" indent="-2857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endParaRPr sz="1400" b="0" i="0" u="none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285750" marR="0" indent="-2857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endParaRPr sz="1400" b="0" i="0" u="none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285750" indent="-285750" algn="l" defTabSz="914400">
                        <a:buFont typeface="Arial"/>
                        <a:buChar char="•"/>
                      </a:pPr>
                      <a:endParaRPr sz="1400" b="0" i="0" u="none" kern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</a:tr>
              <a:tr h="1354600"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400" b="1" i="0" u="none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endParaRPr sz="1400" b="1" i="0" u="none" kern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285750" marR="0" indent="-2857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endParaRPr sz="1400" b="0" u="none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285750" marR="0" indent="-2857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endParaRPr sz="1400" b="0" i="0" u="none" kern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285750" indent="-285750" algn="l" defTabSz="914400">
                        <a:buFont typeface="Arial"/>
                        <a:buChar char="•"/>
                      </a:pPr>
                      <a:endParaRPr sz="1400" b="1" i="0" u="none" kern="12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565" y="136525"/>
            <a:ext cx="307086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064C8"/>
                </a:solidFill>
                <a:latin typeface="Times New Roman"/>
                <a:ea typeface="Times New Roman"/>
                <a:cs typeface="Times New Roman"/>
              </a:rPr>
              <a:t>Literature Survey</a:t>
            </a:r>
            <a:endParaRPr sz="28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A3A418F-4DEE-4BB1-940B-1145D135750E}" type="slidenum">
              <a:t>5</a:t>
            </a:fld>
            <a:endParaRPr/>
          </a:p>
        </p:txBody>
      </p:sp>
      <p:pic>
        <p:nvPicPr>
          <p:cNvPr id="2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044180ad042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9380" y="0"/>
            <a:ext cx="1942620" cy="6225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D54E5-B6E4-4AA2-A9C8-9170DFF4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85875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14" name="body-5">
            <a:extLst xmlns:a="http://schemas.openxmlformats.org/drawingml/2006/main">
              <a:ext uri="{FF2B5EF4-FFF2-40B4-BE49-F238E27FC236}">
                <a16:creationId xmlns:a16="http://schemas.microsoft.com/office/drawing/2014/main" id="{F1D46A82-5597-4524-9F14-C114258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10058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Credit-scoring research compares statistical and machine-learning classifiers across predictive and business-focused measures. Lessmann et al. (2015) highlight the value of benchmarking several classifiers and using more than one performance measure.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Lundberg and Lee (2017) introduced SHAP as a unified approach for assigning feature contributions to individual predictions. FinSight applies these ideas to a compact German Credit dataset and connects prediction quality with interpretability.</a:t>
            </a: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0078"/>
            <a:ext cx="609600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/>
              <a:t>Problem Gap Identification</a:t>
            </a:r>
          </a:p>
        </p:txBody>
      </p:sp>
      <p:pic>
        <p:nvPicPr>
          <p:cNvPr id="1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a6f370e0a47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9380" y="0"/>
            <a:ext cx="1942620" cy="622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BC1F6-C02F-4C79-B6C4-B263C284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85875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8" name="body-6">
            <a:extLst xmlns:a="http://schemas.openxmlformats.org/drawingml/2006/main">
              <a:ext uri="{FF2B5EF4-FFF2-40B4-BE49-F238E27FC236}">
                <a16:creationId xmlns:a16="http://schemas.microsoft.com/office/drawing/2014/main" id="{2097873C-A167-4BB7-BDDF-3B200A8B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10058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Many classroom credit-risk examples stop at model accuracy. FinSight addresses four connected gaps: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Raw symbolic data is often used without a reproducible schema and validation record.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Class imbalance can make accuracy misleading.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A prediction without feature-level reasons is difficult to review.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Fairness and unequal error costs are often omitted from the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The project joins data quality, cost-aware evaluation, explainability, and human review in one workflow.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060" y="567351"/>
            <a:ext cx="840587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/>
              <a:t>Innovation, Creativity, and Novelty</a:t>
            </a:r>
          </a:p>
        </p:txBody>
      </p:sp>
      <p:pic>
        <p:nvPicPr>
          <p:cNvPr id="1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5303396524c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9380" y="0"/>
            <a:ext cx="1942620" cy="622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0EA6D-7577-4377-B843-6A02D04F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85875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8" name="body-7">
            <a:extLst xmlns:a="http://schemas.openxmlformats.org/drawingml/2006/main">
              <a:ext uri="{FF2B5EF4-FFF2-40B4-BE49-F238E27FC236}">
                <a16:creationId xmlns:a16="http://schemas.microsoft.com/office/drawing/2014/main" id="{4331AA4E-3186-4445-9FA9-EC4CE5DB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10058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FinSight combines four elements in one student-scale decision-support system: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A reproducible acquisition and validation pipeline with provenance metadata.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A modelling comparison that treats bad-risk recall and error costs as decision-relevant.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SHAP explanations for both global model behaviour and individual applicants.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• A Streamlit interface that keeps model output advisory and reviewable.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The contribution is the integrated, explainable workflow rather than a claim of a new classifier.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380" y="551058"/>
            <a:ext cx="7234014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/>
              <a:t>Feasibility and Project Plan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98" y="1743891"/>
            <a:ext cx="1011603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0000"/>
                </a:solidFill>
              </a:rPr>
              <a:t>TIMELINE CHART FOR EACH PHASE OF YOUR PROJECT SHOULD BE THERE AFTER EXPLANATION</a:t>
            </a:r>
          </a:p>
        </p:txBody>
      </p:sp>
      <p:pic>
        <p:nvPicPr>
          <p:cNvPr id="1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483c76d8346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9380" y="0"/>
            <a:ext cx="1942620" cy="622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18287-4BDB-4B96-8363-BA6B22FE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85875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8" name="body-8">
            <a:extLst xmlns:a="http://schemas.openxmlformats.org/drawingml/2006/main">
              <a:ext uri="{FF2B5EF4-FFF2-40B4-BE49-F238E27FC236}">
                <a16:creationId xmlns:a16="http://schemas.microsoft.com/office/drawing/2014/main" id="{5D3C7E24-5174-49D0-AF4E-E926F699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100584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The project is feasible because the dataset is small, public, and well documented. Python, pandas, scikit-learn, SHAP, and Streamlit support a lightweight implementation on a student laptop.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Phase 1: acquisition, schema, validation, and reports.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Phase 2: exploratory analysis and leakage-aware preprocessing.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Phase 3: baseline models and evaluation.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Phase 4: model comparison and tuning.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Phase 5: SHAP explanations and fairness diagnostics.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Phase 6: Streamlit dashboard.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Phase 7: testing, documentation, and viva preparation.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2026-09-10T05:23:46.1770000Z</dcterms:created>
  <dcterms:modified xsi:type="dcterms:W3CDTF">2026-09-10T05:23:46.1770000Z</dcterms:modified>
</coreProperties>
</file>